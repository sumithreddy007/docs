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7" r:id="rId2"/>
    <p:sldId id="302" r:id="rId3"/>
    <p:sldId id="285" r:id="rId4"/>
    <p:sldId id="313" r:id="rId5"/>
    <p:sldId id="318" r:id="rId6"/>
    <p:sldId id="320" r:id="rId7"/>
    <p:sldId id="321" r:id="rId8"/>
    <p:sldId id="274" r:id="rId9"/>
    <p:sldId id="305" r:id="rId10"/>
    <p:sldId id="319" r:id="rId11"/>
    <p:sldId id="283" r:id="rId12"/>
    <p:sldId id="307" r:id="rId13"/>
    <p:sldId id="315" r:id="rId14"/>
    <p:sldId id="275" r:id="rId15"/>
    <p:sldId id="308" r:id="rId16"/>
    <p:sldId id="296" r:id="rId17"/>
    <p:sldId id="301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3452ED-1AF1-2365-1AC8-E9EF01413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EE1F9-FBF1-C78E-76C8-4A6F8A71A6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E4B9D-938E-4E55-BCB2-41D36B9A8E84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8CF26-2379-9D13-7C1A-71D4563917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E5187-3E4E-9461-20DC-91893DCFB7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AE7A-7E3E-4738-AFB9-7991B644632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84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48D5-1B43-4D18-82B2-B3A66EF1062D}" type="datetimeFigureOut">
              <a:rPr lang="en-IN" smtClean="0"/>
              <a:pPr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098D-EA97-4A70-9912-3FE9AFDFE5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0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Note: Keep/remove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3098D-EA97-4A70-9912-3FE9AFDFE50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D6C0-DD32-4DC8-B05C-E7963BAC8E4F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510B-34B4-474C-AE80-98196578E8C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3D2F-2417-4288-A765-E366BA1D16A5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E8AB-30C0-4464-82AA-6C8F5EA27FB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3222D-7BF5-4413-A892-D97988CB8E87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6E0DB-1B48-48EC-ACC3-7D771A4E2A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48F59-EF7D-40E5-8A5D-392B959FB91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549AC-A1C5-4DB9-B975-5747EFC49339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F64D-3F51-46C9-A1BA-FEE871EE080B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D770A-C006-4BB9-B3C3-9A0239EEF8B3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4C94-5DAC-44BD-825C-15C6E1DA254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F2149-1560-4C77-84A9-65E3FB36E82E}" type="datetime1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906" y="4622488"/>
            <a:ext cx="1135987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 University, Warangal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School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srgbClr val="C0000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Specialization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Marketing / HR / Finance / Operations / Business Analytics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Company / Industry Name (if internship-based) :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82;p16"/>
          <p:cNvSpPr txBox="1"/>
          <p:nvPr/>
        </p:nvSpPr>
        <p:spPr>
          <a:xfrm>
            <a:off x="2174720" y="764801"/>
            <a:ext cx="9179080" cy="35925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Name: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Enrollment</a:t>
            </a: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No: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I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Year of Admission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Project Title: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Industry Mentor: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Date of </a:t>
            </a:r>
            <a:r>
              <a:rPr lang="en-US" sz="2800" b="1" dirty="0">
                <a:solidFill>
                  <a:srgbClr val="70AD47">
                    <a:lumMod val="10000"/>
                  </a:srgb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Viva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10000"/>
                </a:srgbClr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27076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10000"/>
                  </a:srgbClr>
                </a:solidFill>
                <a:effectLst/>
                <a:uLnTx/>
                <a:uFillTx/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75B00-1ACA-0661-5530-AEABA2DC220A}"/>
              </a:ext>
            </a:extLst>
          </p:cNvPr>
          <p:cNvSpPr txBox="1"/>
          <p:nvPr/>
        </p:nvSpPr>
        <p:spPr>
          <a:xfrm>
            <a:off x="1262209" y="117806"/>
            <a:ext cx="5901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MBA Viva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613" y="2047606"/>
            <a:ext cx="9844773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Supervisor: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Industry Mentor: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Department Internal Member: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External Member: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itle 3"/>
          <p:cNvSpPr txBox="1"/>
          <p:nvPr/>
        </p:nvSpPr>
        <p:spPr>
          <a:xfrm>
            <a:off x="0" y="0"/>
            <a:ext cx="8325094" cy="755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solidFill>
                  <a:prstClr val="white"/>
                </a:solidFill>
                <a:latin typeface="Arial Rounded MT Bold" panose="020F0704030504030204" pitchFamily="34" charset="0"/>
              </a:rPr>
              <a:t>Viva Panel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A68CD-A75F-BFC9-3D68-8AB76702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E150B-9257-C616-D5D1-EA681128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03366-98A3-72C9-141C-4241FC32C8BA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Semester-1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52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2B71B-5DFA-87BA-AE46-4AA75EBD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5D62-04B9-C677-65CC-5581DF40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26567-FBDB-EFF8-A3B3-B71E2CB65FDC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Semester-2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116A1F1-F6BA-6A53-34DF-98FEBB1CE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6527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CA460-3EDE-8EE6-64BF-4ADB4D67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168DC-A043-1A3A-7BDD-F74AB6C8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0AE61-EE05-A88C-6723-3A3CCFABC30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Marks Memo of Grades by Exam Section (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Semester-3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)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2BD1607-BC64-E980-D662-294BBB9A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8793"/>
          <a:stretch>
            <a:fillRect/>
          </a:stretch>
        </p:blipFill>
        <p:spPr bwMode="auto">
          <a:xfrm>
            <a:off x="1152599" y="888187"/>
            <a:ext cx="8051036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6710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98BB7-064C-BEF8-D81D-8BDE277C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4E75A-1D04-9445-78D4-35B88B44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18650-063B-310B-DB49-B268ED499204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Internship Offer Letter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3734B-6FBE-6E7F-483C-236DBF338DD1}"/>
              </a:ext>
            </a:extLst>
          </p:cNvPr>
          <p:cNvSpPr txBox="1"/>
          <p:nvPr/>
        </p:nvSpPr>
        <p:spPr>
          <a:xfrm>
            <a:off x="242596" y="1184988"/>
            <a:ext cx="454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(Add the screenshot of Internship Offer Letter)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75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477C5-824B-1937-725C-3A7D94BB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1E60C-E2D2-ADF2-5525-5FDCE570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5CEAC-A11C-9536-C370-F6B737D41623}"/>
              </a:ext>
            </a:extLst>
          </p:cNvPr>
          <p:cNvSpPr txBox="1"/>
          <p:nvPr/>
        </p:nvSpPr>
        <p:spPr>
          <a:xfrm>
            <a:off x="0" y="137552"/>
            <a:ext cx="8143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Malgun Gothic" panose="020B0503020000020004" pitchFamily="34" charset="-127"/>
                <a:cs typeface="+mn-cs"/>
              </a:rPr>
              <a:t>Receipt of Internship Payment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25C2E-8930-D4F3-AA44-2129D6817E0E}"/>
              </a:ext>
            </a:extLst>
          </p:cNvPr>
          <p:cNvSpPr txBox="1"/>
          <p:nvPr/>
        </p:nvSpPr>
        <p:spPr>
          <a:xfrm>
            <a:off x="298580" y="1203649"/>
            <a:ext cx="112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(Can include the screenshot of payment received proof like Check or bank statement or online transfer for one month)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50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12997-B8F6-AF3D-13FE-616719E6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EE45F-7AC8-8B5C-EBB5-EC3547E6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Google Shape;175;p25">
            <a:extLst>
              <a:ext uri="{FF2B5EF4-FFF2-40B4-BE49-F238E27FC236}">
                <a16:creationId xmlns:a16="http://schemas.microsoft.com/office/drawing/2014/main" id="{407009F7-764E-A68E-4E9F-41BCA4B3A330}"/>
              </a:ext>
            </a:extLst>
          </p:cNvPr>
          <p:cNvSpPr txBox="1">
            <a:spLocks/>
          </p:cNvSpPr>
          <p:nvPr/>
        </p:nvSpPr>
        <p:spPr>
          <a:xfrm>
            <a:off x="280555" y="110948"/>
            <a:ext cx="6894686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Outcome/Impact of the Project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5C48FA-B639-4FD0-04CC-027D4DB15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77871"/>
              </p:ext>
            </p:extLst>
          </p:nvPr>
        </p:nvGraphicFramePr>
        <p:xfrm>
          <a:off x="107207" y="1349528"/>
          <a:ext cx="11912424" cy="2700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822">
                  <a:extLst>
                    <a:ext uri="{9D8B030D-6E8A-4147-A177-3AD203B41FA5}">
                      <a16:colId xmlns:a16="http://schemas.microsoft.com/office/drawing/2014/main" val="4188893327"/>
                    </a:ext>
                  </a:extLst>
                </a:gridCol>
                <a:gridCol w="9528602">
                  <a:extLst>
                    <a:ext uri="{9D8B030D-6E8A-4147-A177-3AD203B41FA5}">
                      <a16:colId xmlns:a16="http://schemas.microsoft.com/office/drawing/2014/main" val="2676605491"/>
                    </a:ext>
                  </a:extLst>
                </a:gridCol>
              </a:tblGrid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43936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21278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rgbClr val="C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135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2A0390-4F44-F99A-9695-C5B368B19923}"/>
              </a:ext>
            </a:extLst>
          </p:cNvPr>
          <p:cNvSpPr txBox="1"/>
          <p:nvPr/>
        </p:nvSpPr>
        <p:spPr>
          <a:xfrm>
            <a:off x="280555" y="91440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66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24FEB-C3BF-7B64-2CE5-FF05910E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7B45-A961-BCAD-7D6A-58BCCA9E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0541-2541-C3E0-1D0B-9827CED4BB7D}"/>
              </a:ext>
            </a:extLst>
          </p:cNvPr>
          <p:cNvSpPr txBox="1">
            <a:spLocks/>
          </p:cNvSpPr>
          <p:nvPr/>
        </p:nvSpPr>
        <p:spPr>
          <a:xfrm>
            <a:off x="104502" y="132245"/>
            <a:ext cx="7733211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Chapter Wise Plan of the Project Report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F33D07-AA59-8AA4-5A62-253411E27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17714"/>
              </p:ext>
            </p:extLst>
          </p:nvPr>
        </p:nvGraphicFramePr>
        <p:xfrm>
          <a:off x="39269" y="835863"/>
          <a:ext cx="12152731" cy="4600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5025">
                  <a:extLst>
                    <a:ext uri="{9D8B030D-6E8A-4147-A177-3AD203B41FA5}">
                      <a16:colId xmlns:a16="http://schemas.microsoft.com/office/drawing/2014/main" val="1112402956"/>
                    </a:ext>
                  </a:extLst>
                </a:gridCol>
                <a:gridCol w="10317706">
                  <a:extLst>
                    <a:ext uri="{9D8B030D-6E8A-4147-A177-3AD203B41FA5}">
                      <a16:colId xmlns:a16="http://schemas.microsoft.com/office/drawing/2014/main" val="3199844010"/>
                    </a:ext>
                  </a:extLst>
                </a:gridCol>
              </a:tblGrid>
              <a:tr h="920081">
                <a:tc>
                  <a:txBody>
                    <a:bodyPr/>
                    <a:lstStyle/>
                    <a:p>
                      <a:r>
                        <a:rPr lang="en-GB" dirty="0"/>
                        <a:t>Chapter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Background/ Introduction of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42671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Comparison with Similar Products/Projects/Services in the 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01872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Problem Statement, Problem Solutions &amp; Proposed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551058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Working Chapter Title based on the project/Research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04514"/>
                  </a:ext>
                </a:extLst>
              </a:tr>
              <a:tr h="920081">
                <a:tc>
                  <a:txBody>
                    <a:bodyPr/>
                    <a:lstStyle/>
                    <a:p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Chapter 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Conclusion &amp;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2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89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07FF2-C334-07A6-8717-DC3FDEE4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6964-B9CE-1D09-7B83-5D861830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8CE94-FD23-8632-8EC6-9B1747A9E111}"/>
              </a:ext>
            </a:extLst>
          </p:cNvPr>
          <p:cNvSpPr txBox="1">
            <a:spLocks/>
          </p:cNvSpPr>
          <p:nvPr/>
        </p:nvSpPr>
        <p:spPr>
          <a:xfrm>
            <a:off x="104503" y="132245"/>
            <a:ext cx="6807100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Chapter-1: Background/ Introduction of Project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34E73-B982-9CE0-70FA-20DAD70243F1}"/>
              </a:ext>
            </a:extLst>
          </p:cNvPr>
          <p:cNvSpPr txBox="1"/>
          <p:nvPr/>
        </p:nvSpPr>
        <p:spPr>
          <a:xfrm>
            <a:off x="169314" y="901934"/>
            <a:ext cx="118250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Explains the broader field or area in which your 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project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is situated.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Helps the reader understand why the topic is important.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Applications to be focus for thesis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Use as many slides as required.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205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50817-99DD-65B6-9708-053BFE40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7E591-AC6B-9532-BDCE-D16E6381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F5E941-2C5C-17F6-B7F0-673B5800F0CF}"/>
              </a:ext>
            </a:extLst>
          </p:cNvPr>
          <p:cNvSpPr txBox="1">
            <a:spLocks/>
          </p:cNvSpPr>
          <p:nvPr/>
        </p:nvSpPr>
        <p:spPr>
          <a:xfrm>
            <a:off x="496388" y="270577"/>
            <a:ext cx="7602583" cy="4998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Chapter-2: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Times New Roman" panose="02020603050405020304" pitchFamily="18" charset="0"/>
              </a:rPr>
              <a:t>Comparison with Similar Products/Projects/Services in the Market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0A5136-DAEC-DC95-7A97-EDA67967E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924262"/>
              </p:ext>
            </p:extLst>
          </p:nvPr>
        </p:nvGraphicFramePr>
        <p:xfrm>
          <a:off x="291548" y="1729409"/>
          <a:ext cx="11847444" cy="49920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56313">
                  <a:extLst>
                    <a:ext uri="{9D8B030D-6E8A-4147-A177-3AD203B41FA5}">
                      <a16:colId xmlns:a16="http://schemas.microsoft.com/office/drawing/2014/main" val="1166323747"/>
                    </a:ext>
                  </a:extLst>
                </a:gridCol>
                <a:gridCol w="5658985">
                  <a:extLst>
                    <a:ext uri="{9D8B030D-6E8A-4147-A177-3AD203B41FA5}">
                      <a16:colId xmlns:a16="http://schemas.microsoft.com/office/drawing/2014/main" val="4003511806"/>
                    </a:ext>
                  </a:extLst>
                </a:gridCol>
                <a:gridCol w="1432146">
                  <a:extLst>
                    <a:ext uri="{9D8B030D-6E8A-4147-A177-3AD203B41FA5}">
                      <a16:colId xmlns:a16="http://schemas.microsoft.com/office/drawing/2014/main" val="386303472"/>
                    </a:ext>
                  </a:extLst>
                </a:gridCol>
              </a:tblGrid>
              <a:tr h="76235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 Rounded MT Bold" panose="020F0704030504030204" pitchFamily="34" charset="0"/>
                        </a:rPr>
                        <a:t>Products/Projects/Services</a:t>
                      </a: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Key Features</a:t>
                      </a:r>
                      <a:endParaRPr lang="en-IN" sz="2800" b="1" i="0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Ref #</a:t>
                      </a:r>
                      <a:endParaRPr lang="en-IN" sz="2800" b="1" u="none" strike="noStrike" dirty="0">
                        <a:solidFill>
                          <a:srgbClr val="C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22704883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1446847401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55637976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489683364"/>
                  </a:ext>
                </a:extLst>
              </a:tr>
              <a:tr h="876546">
                <a:tc>
                  <a:txBody>
                    <a:bodyPr/>
                    <a:lstStyle/>
                    <a:p>
                      <a:pPr algn="l" fontAlgn="ctr"/>
                      <a:endParaRPr lang="en-IN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3782778342"/>
                  </a:ext>
                </a:extLst>
              </a:tr>
              <a:tr h="825539"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800" b="0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3776" marR="3776" marT="3776" marB="0" anchor="ctr"/>
                </a:tc>
                <a:extLst>
                  <a:ext uri="{0D108BD9-81ED-4DB2-BD59-A6C34878D82A}">
                    <a16:rowId xmlns:a16="http://schemas.microsoft.com/office/drawing/2014/main" val="26839574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47D9F27-4A3B-D785-8818-0F063C8E59B7}"/>
              </a:ext>
            </a:extLst>
          </p:cNvPr>
          <p:cNvSpPr txBox="1"/>
          <p:nvPr/>
        </p:nvSpPr>
        <p:spPr>
          <a:xfrm>
            <a:off x="496388" y="1138336"/>
            <a:ext cx="521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Note: Reference can be publications or Website Links</a:t>
            </a:r>
          </a:p>
        </p:txBody>
      </p:sp>
    </p:spTree>
    <p:extLst>
      <p:ext uri="{BB962C8B-B14F-4D97-AF65-F5344CB8AC3E}">
        <p14:creationId xmlns:p14="http://schemas.microsoft.com/office/powerpoint/2010/main" val="26706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1CCB12-BF62-29ED-A87F-8BD80696BC0E}"/>
              </a:ext>
            </a:extLst>
          </p:cNvPr>
          <p:cNvSpPr txBox="1"/>
          <p:nvPr/>
        </p:nvSpPr>
        <p:spPr>
          <a:xfrm>
            <a:off x="227218" y="185203"/>
            <a:ext cx="7317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5AD1D-97A1-18D7-575F-83EC4009BA2F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problem statement identified through Literature Survey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05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09A57-5DBA-7326-3FCA-9EE8A3C2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25D07-F700-4A92-DA45-84F3D319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BC13F-7A3E-A677-AEB8-D26A5415B15F}"/>
              </a:ext>
            </a:extLst>
          </p:cNvPr>
          <p:cNvSpPr txBox="1"/>
          <p:nvPr/>
        </p:nvSpPr>
        <p:spPr>
          <a:xfrm>
            <a:off x="227217" y="185203"/>
            <a:ext cx="7713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Chapter-3: Problem Solutions &amp; Proposed Methodology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31ABF-2A58-4CFD-3094-0A1A20E366C3}"/>
              </a:ext>
            </a:extLst>
          </p:cNvPr>
          <p:cNvSpPr txBox="1"/>
          <p:nvPr/>
        </p:nvSpPr>
        <p:spPr>
          <a:xfrm>
            <a:off x="169314" y="901934"/>
            <a:ext cx="11825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dirty="0">
                <a:solidFill>
                  <a:srgbClr val="C00000"/>
                </a:solidFill>
                <a:latin typeface="Arial Rounded MT Bold" panose="020F0704030504030204" pitchFamily="34" charset="0"/>
              </a:rPr>
              <a:t>Discuss the various solutions and proposed methodology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230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C24E8-65AF-6B3B-C17F-469CCC39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D2235-B77F-CE38-918E-1275F6A5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6AF6A-48CB-BE31-A0D5-9EDE8F2095A6}"/>
              </a:ext>
            </a:extLst>
          </p:cNvPr>
          <p:cNvSpPr txBox="1"/>
          <p:nvPr/>
        </p:nvSpPr>
        <p:spPr>
          <a:xfrm>
            <a:off x="191924" y="1004910"/>
            <a:ext cx="797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dirty="0">
                <a:solidFill>
                  <a:prstClr val="black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Key project works carried out during Internship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217" y="1466575"/>
            <a:ext cx="117401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Project </a:t>
            </a: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done (flow chart of project or calculation Schematic diagram/Algorithm/Method etc </a:t>
            </a:r>
          </a:p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Use As many slides as required </a:t>
            </a:r>
            <a:endParaRPr lang="en-US" sz="1600" dirty="0">
              <a:solidFill>
                <a:srgbClr val="C0000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81A36-47C6-AF43-9F9A-1D7B45849440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Chapter-4: Title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86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55580-A0B8-0236-9EDE-FA1DF60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4F544-188D-64B1-9556-4459E240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912B4-77CE-C018-5435-FD262D4AA42B}"/>
              </a:ext>
            </a:extLst>
          </p:cNvPr>
          <p:cNvSpPr txBox="1"/>
          <p:nvPr/>
        </p:nvSpPr>
        <p:spPr>
          <a:xfrm>
            <a:off x="227217" y="185203"/>
            <a:ext cx="7713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Tahoma" pitchFamily="34" charset="0"/>
                <a:cs typeface="Tahoma" pitchFamily="34" charset="0"/>
              </a:rPr>
              <a:t>Chapter-5: Conclusion &amp; Future Scope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A0618-88B4-3958-7400-0ED5679366AE}"/>
              </a:ext>
            </a:extLst>
          </p:cNvPr>
          <p:cNvSpPr/>
          <p:nvPr/>
        </p:nvSpPr>
        <p:spPr>
          <a:xfrm>
            <a:off x="130217" y="887444"/>
            <a:ext cx="11740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IN" sz="1600" b="1" dirty="0">
                <a:solidFill>
                  <a:srgbClr val="C00000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Performance comparison with existing works &amp; Future directions for further improvement</a:t>
            </a:r>
            <a:endParaRPr lang="en-US" sz="1600" dirty="0">
              <a:solidFill>
                <a:srgbClr val="7030A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0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A15DC-7107-33D2-250D-48979CD9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5DA9-6816-02E8-3B09-391D7517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D15B6-490D-51A1-F356-1FDF0DE5F08D}"/>
              </a:ext>
            </a:extLst>
          </p:cNvPr>
          <p:cNvSpPr txBox="1"/>
          <p:nvPr/>
        </p:nvSpPr>
        <p:spPr>
          <a:xfrm>
            <a:off x="126226" y="785594"/>
            <a:ext cx="113501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Minimum 80% references should be SCI/SSCI/AHCI Q1 (Not ESCI). Mention Quartile with every paper as per latest JCR List shared by Dean Research, SRU. (At least </a:t>
            </a:r>
            <a:r>
              <a:rPr lang="en-GB" sz="1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Papers in Reference List).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Follow the following style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A.,Yadav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S.N.S.,Tsai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M.-H., Dubey, A., Lin, C.-T.,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Gwo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S., Yen, T.-J. (2024): Superior visible photoelectric response with Au/Cu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NiSnS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core-shell nanocrystal, ACS Applied Materials &amp; Interfaces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16, 12033-12041.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D.,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Ghosh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A., Ali, M. Y., Bhattacharyya, S. (2018): Photoactive core-shell nanorods as bifunctional electrodes for boosting the performance of quantum dot sensitized solar cells and photoelectrochemical cells, Chemistry of Materials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(SCI Q1)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, 30, 6071-6081.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2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A1BAF-6D6B-79A1-65B6-E37E8B96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15755-082B-905C-7300-050A4C3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899DB-0C50-6E06-DD36-ADF8FF91367C}"/>
              </a:ext>
            </a:extLst>
          </p:cNvPr>
          <p:cNvSpPr txBox="1"/>
          <p:nvPr/>
        </p:nvSpPr>
        <p:spPr>
          <a:xfrm>
            <a:off x="126226" y="785594"/>
            <a:ext cx="1135015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117780-64C0-741D-FB2D-59361B941ACD}"/>
              </a:ext>
            </a:extLst>
          </p:cNvPr>
          <p:cNvSpPr/>
          <p:nvPr/>
        </p:nvSpPr>
        <p:spPr>
          <a:xfrm>
            <a:off x="375041" y="139627"/>
            <a:ext cx="2175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References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581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187ED-45B0-562E-A601-AEC273BA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46AB0-B4B4-D466-135C-F491CFCE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18960-8005-486C-9A75-10CB2AAC16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97B06F-AE4B-E21D-1868-A19CC6EE9C82}"/>
              </a:ext>
            </a:extLst>
          </p:cNvPr>
          <p:cNvSpPr txBox="1">
            <a:spLocks/>
          </p:cNvSpPr>
          <p:nvPr/>
        </p:nvSpPr>
        <p:spPr>
          <a:xfrm>
            <a:off x="185530" y="2998500"/>
            <a:ext cx="11416748" cy="19084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THANK YOU. </a:t>
            </a:r>
          </a:p>
          <a:p>
            <a:pPr marL="0" marR="0" lvl="0" indent="0" algn="ctr" defTabSz="9144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Panel Members are requested to ask questions. I understand that this interaction may be recorded for the quality purpose.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34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558</Words>
  <Application>Microsoft Office PowerPoint</Application>
  <PresentationFormat>Widescreen</PresentationFormat>
  <Paragraphs>149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Dr. Ajayan</cp:lastModifiedBy>
  <cp:revision>74</cp:revision>
  <dcterms:created xsi:type="dcterms:W3CDTF">2025-03-18T10:58:32Z</dcterms:created>
  <dcterms:modified xsi:type="dcterms:W3CDTF">2025-11-27T06:53:09Z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A7CC2B040E1242BCA8ECC8C411552075_11</vt:lpwstr>
  </property>
  <property fmtid="{D5CDD505-2E9C-101B-9397-08002B2CF9AE}" pid="3" name="KSOProductBuildVer">
    <vt:lpwstr>1033-12.2.0.20326</vt:lpwstr>
  </property>
</Properties>
</file>