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97" r:id="rId2"/>
    <p:sldId id="302" r:id="rId3"/>
    <p:sldId id="285" r:id="rId4"/>
    <p:sldId id="313" r:id="rId5"/>
    <p:sldId id="318" r:id="rId6"/>
    <p:sldId id="274" r:id="rId7"/>
    <p:sldId id="305" r:id="rId8"/>
    <p:sldId id="319" r:id="rId9"/>
    <p:sldId id="283" r:id="rId10"/>
    <p:sldId id="314" r:id="rId11"/>
    <p:sldId id="307" r:id="rId12"/>
    <p:sldId id="315" r:id="rId13"/>
    <p:sldId id="275" r:id="rId14"/>
    <p:sldId id="308" r:id="rId15"/>
    <p:sldId id="317" r:id="rId16"/>
    <p:sldId id="320" r:id="rId17"/>
    <p:sldId id="296" r:id="rId18"/>
    <p:sldId id="301" r:id="rId19"/>
    <p:sldId id="311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3452ED-1AF1-2365-1AC8-E9EF01413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EE1F9-FBF1-C78E-76C8-4A6F8A71A6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E4B9D-938E-4E55-BCB2-41D36B9A8E84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8CF26-2379-9D13-7C1A-71D4563917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E5187-3E4E-9461-20DC-91893DCFB7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7AE7A-7E3E-4738-AFB9-7991B644632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884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D48D5-1B43-4D18-82B2-B3A66EF1062D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098D-EA97-4A70-9912-3FE9AFDFE5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1205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Note: Keep/remove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F3098D-EA97-4A70-9912-3FE9AFDFE50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175D-4A30-47A4-99BE-97DBC9E31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0E05C-F7EA-C5CD-B999-1AD4760C7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32055-CD35-CB7A-E1A4-21C864F24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Note: Keep/remove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CA4DA-0ACF-855F-62D5-7D59442C2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F3098D-EA97-4A70-9912-3FE9AFDFE50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9925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D6C0-DD32-4DC8-B05C-E7963BAC8E4F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510B-34B4-474C-AE80-98196578E8C5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B3D2F-2417-4288-A765-E366BA1D16A5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E8AB-30C0-4464-82AA-6C8F5EA27FBB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3222D-7BF5-4413-A892-D97988CB8E87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E0DB-1B48-48EC-ACC3-7D771A4E2A0B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48F59-EF7D-40E5-8A5D-392B959FB913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49AC-A1C5-4DB9-B975-5747EFC49339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F64D-3F51-46C9-A1BA-FEE871EE080B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D770A-C006-4BB9-B3C3-9A0239EEF8B3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4C94-5DAC-44BD-825C-15C6E1DA254E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F2149-1560-4C77-84A9-65E3FB36E82E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3906" y="4622488"/>
            <a:ext cx="11359876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 University, Warangal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School Name: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Name: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srgbClr val="C00000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 Name: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82;p16"/>
          <p:cNvSpPr txBox="1"/>
          <p:nvPr/>
        </p:nvSpPr>
        <p:spPr>
          <a:xfrm>
            <a:off x="2174720" y="764801"/>
            <a:ext cx="9179080" cy="35925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Name: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IN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Enrollment</a:t>
            </a: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No: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Year of Admission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: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10000"/>
                </a:srgbClr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lang="en-US" sz="2800" b="1" dirty="0">
                <a:solidFill>
                  <a:srgbClr val="70AD47">
                    <a:lumMod val="10000"/>
                  </a:srgb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Thesis/Project Title: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Supervisor: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Date of </a:t>
            </a:r>
            <a:r>
              <a:rPr lang="en-US" sz="2800" b="1" dirty="0">
                <a:solidFill>
                  <a:srgbClr val="70AD47">
                    <a:lumMod val="10000"/>
                  </a:srgb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Viva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10000"/>
                </a:srgbClr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975B00-1ACA-0661-5530-AEABA2DC220A}"/>
              </a:ext>
            </a:extLst>
          </p:cNvPr>
          <p:cNvSpPr txBox="1"/>
          <p:nvPr/>
        </p:nvSpPr>
        <p:spPr>
          <a:xfrm>
            <a:off x="1262209" y="117806"/>
            <a:ext cx="5901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MTech/MSc Viva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3613" y="2047606"/>
            <a:ext cx="984477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Supervisor: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Department Internal Member: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External Member: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Title 3"/>
          <p:cNvSpPr txBox="1"/>
          <p:nvPr/>
        </p:nvSpPr>
        <p:spPr>
          <a:xfrm>
            <a:off x="0" y="0"/>
            <a:ext cx="8325094" cy="755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prstClr val="white"/>
                </a:solidFill>
                <a:latin typeface="Arial Rounded MT Bold" panose="020F0704030504030204" pitchFamily="34" charset="0"/>
              </a:rPr>
              <a:t>Viva Panel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A68CD-A75F-BFC9-3D68-8AB767021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E150B-9257-C616-D5D1-EA681128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103366-98A3-72C9-141C-4241FC32C8BA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Marks Memo of Grades by Exam Section (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Semester-1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)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 b="8793"/>
          <a:stretch>
            <a:fillRect/>
          </a:stretch>
        </p:blipFill>
        <p:spPr bwMode="auto">
          <a:xfrm>
            <a:off x="1152599" y="888187"/>
            <a:ext cx="8051036" cy="556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05210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2B71B-5DFA-87BA-AE46-4AA75EBD5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95D62-04B9-C677-65CC-5581DF40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A26567-FBDB-EFF8-A3B3-B71E2CB65FDC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Marks Memo of Grades by Exam Section (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Semester-2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)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116A1F1-F6BA-6A53-34DF-98FEBB1CE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b="8793"/>
          <a:stretch>
            <a:fillRect/>
          </a:stretch>
        </p:blipFill>
        <p:spPr bwMode="auto">
          <a:xfrm>
            <a:off x="1152599" y="888187"/>
            <a:ext cx="8051036" cy="556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65275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1BC8B2-FCE3-5C65-8633-330CD8763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4D151-F109-EA89-6E93-97DF3A9EC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C2202D-37D4-F1D1-56D6-9DDDC3FC3894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Marks Memo of Grades by Exam Section (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Semester-3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)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CD1664A-9F14-9033-EF9F-1806DC71D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b="8793"/>
          <a:stretch>
            <a:fillRect/>
          </a:stretch>
        </p:blipFill>
        <p:spPr bwMode="auto">
          <a:xfrm>
            <a:off x="1152599" y="888187"/>
            <a:ext cx="8051036" cy="556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9661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12997-B8F6-AF3D-13FE-616719E6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3EE45F-7AC8-8B5C-EBB5-EC3547E60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Google Shape;175;p25">
            <a:extLst>
              <a:ext uri="{FF2B5EF4-FFF2-40B4-BE49-F238E27FC236}">
                <a16:creationId xmlns:a16="http://schemas.microsoft.com/office/drawing/2014/main" id="{407009F7-764E-A68E-4E9F-41BCA4B3A330}"/>
              </a:ext>
            </a:extLst>
          </p:cNvPr>
          <p:cNvSpPr txBox="1">
            <a:spLocks/>
          </p:cNvSpPr>
          <p:nvPr/>
        </p:nvSpPr>
        <p:spPr>
          <a:xfrm>
            <a:off x="280555" y="110948"/>
            <a:ext cx="4859004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prstClr val="white"/>
                </a:solidFill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Thesis/Project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  Objectives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5C48FA-B639-4FD0-04CC-027D4DB15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981488"/>
              </p:ext>
            </p:extLst>
          </p:nvPr>
        </p:nvGraphicFramePr>
        <p:xfrm>
          <a:off x="107207" y="1349528"/>
          <a:ext cx="11912424" cy="27006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3822">
                  <a:extLst>
                    <a:ext uri="{9D8B030D-6E8A-4147-A177-3AD203B41FA5}">
                      <a16:colId xmlns:a16="http://schemas.microsoft.com/office/drawing/2014/main" val="4188893327"/>
                    </a:ext>
                  </a:extLst>
                </a:gridCol>
                <a:gridCol w="9528602">
                  <a:extLst>
                    <a:ext uri="{9D8B030D-6E8A-4147-A177-3AD203B41FA5}">
                      <a16:colId xmlns:a16="http://schemas.microsoft.com/office/drawing/2014/main" val="2676605491"/>
                    </a:ext>
                  </a:extLst>
                </a:gridCol>
              </a:tblGrid>
              <a:tr h="900211"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rgbClr val="C00000"/>
                          </a:solidFill>
                          <a:latin typeface="Arial Rounded MT Bold" panose="020F0704030504030204" pitchFamily="34" charset="0"/>
                        </a:rPr>
                        <a:t>Objective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243936"/>
                  </a:ext>
                </a:extLst>
              </a:tr>
              <a:tr h="900211">
                <a:tc>
                  <a:txBody>
                    <a:bodyPr/>
                    <a:lstStyle/>
                    <a:p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Objective 2</a:t>
                      </a:r>
                      <a:endParaRPr lang="en-GB" sz="28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621278"/>
                  </a:ext>
                </a:extLst>
              </a:tr>
              <a:tr h="900211"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8135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F4246E8-716A-5BEE-D1E9-63858774045B}"/>
              </a:ext>
            </a:extLst>
          </p:cNvPr>
          <p:cNvSpPr txBox="1"/>
          <p:nvPr/>
        </p:nvSpPr>
        <p:spPr>
          <a:xfrm>
            <a:off x="280555" y="914400"/>
            <a:ext cx="8259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A Minimum of one objective and a maximum of three objectives can be entered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66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24FEB-C3BF-7B64-2CE5-FF05910E5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B7B45-A961-BCAD-7D6A-58BCCA9ED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4B0541-2541-C3E0-1D0B-9827CED4BB7D}"/>
              </a:ext>
            </a:extLst>
          </p:cNvPr>
          <p:cNvSpPr txBox="1">
            <a:spLocks/>
          </p:cNvSpPr>
          <p:nvPr/>
        </p:nvSpPr>
        <p:spPr>
          <a:xfrm>
            <a:off x="104503" y="132245"/>
            <a:ext cx="6807100" cy="4998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Chapter Wise Plan of the Thesis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1E6F09F-92C6-722F-BBF9-07964228B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173517"/>
              </p:ext>
            </p:extLst>
          </p:nvPr>
        </p:nvGraphicFramePr>
        <p:xfrm>
          <a:off x="39269" y="835863"/>
          <a:ext cx="12152731" cy="46004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5025">
                  <a:extLst>
                    <a:ext uri="{9D8B030D-6E8A-4147-A177-3AD203B41FA5}">
                      <a16:colId xmlns:a16="http://schemas.microsoft.com/office/drawing/2014/main" val="1112402956"/>
                    </a:ext>
                  </a:extLst>
                </a:gridCol>
                <a:gridCol w="10317706">
                  <a:extLst>
                    <a:ext uri="{9D8B030D-6E8A-4147-A177-3AD203B41FA5}">
                      <a16:colId xmlns:a16="http://schemas.microsoft.com/office/drawing/2014/main" val="3199844010"/>
                    </a:ext>
                  </a:extLst>
                </a:gridCol>
              </a:tblGrid>
              <a:tr h="920081">
                <a:tc>
                  <a:txBody>
                    <a:bodyPr/>
                    <a:lstStyle/>
                    <a:p>
                      <a:r>
                        <a:rPr lang="en-GB" dirty="0"/>
                        <a:t>Chapter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Background/ Introduction of Study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426712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Literature Review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201872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Problem Statement, Problem Solutions &amp; Proposed 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551058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Working Chapter Title based on the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04514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Conclusion &amp; 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426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895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EE482-555C-8581-888D-4CB0564C8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3E93F-9643-7DB4-65DD-294A957C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37B259-B2A1-C449-2D92-AFE1F66734B9}"/>
              </a:ext>
            </a:extLst>
          </p:cNvPr>
          <p:cNvSpPr txBox="1">
            <a:spLocks/>
          </p:cNvSpPr>
          <p:nvPr/>
        </p:nvSpPr>
        <p:spPr>
          <a:xfrm>
            <a:off x="104503" y="132245"/>
            <a:ext cx="6807100" cy="4998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Times New Roman" panose="02020603050405020304" pitchFamily="18" charset="0"/>
              </a:rPr>
              <a:t>Chapter-1: Background/ Introduction of Study 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DF5815-B45E-063E-9BDC-4FCDC0EC0D58}"/>
              </a:ext>
            </a:extLst>
          </p:cNvPr>
          <p:cNvSpPr txBox="1"/>
          <p:nvPr/>
        </p:nvSpPr>
        <p:spPr>
          <a:xfrm>
            <a:off x="169314" y="901934"/>
            <a:ext cx="1182509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Explains the broader field or area in which your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0"/>
              </a:rPr>
              <a:t>project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is situated.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Helps the reader understand why the topic is important.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Applications to be focus for thesis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242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50817-99DD-65B6-9708-053BFE40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7E591-AC6B-9532-BDCE-D16E6381B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F5E941-2C5C-17F6-B7F0-673B5800F0CF}"/>
              </a:ext>
            </a:extLst>
          </p:cNvPr>
          <p:cNvSpPr txBox="1">
            <a:spLocks/>
          </p:cNvSpPr>
          <p:nvPr/>
        </p:nvSpPr>
        <p:spPr>
          <a:xfrm>
            <a:off x="104503" y="132245"/>
            <a:ext cx="6751142" cy="4998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Times New Roman" panose="02020603050405020304" pitchFamily="18" charset="0"/>
              </a:rPr>
              <a:t>Chapter-2: Literature Review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0A5136-DAEC-DC95-7A97-EDA67967E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798974"/>
              </p:ext>
            </p:extLst>
          </p:nvPr>
        </p:nvGraphicFramePr>
        <p:xfrm>
          <a:off x="291548" y="1729409"/>
          <a:ext cx="11847444" cy="502596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40493">
                  <a:extLst>
                    <a:ext uri="{9D8B030D-6E8A-4147-A177-3AD203B41FA5}">
                      <a16:colId xmlns:a16="http://schemas.microsoft.com/office/drawing/2014/main" val="1166323747"/>
                    </a:ext>
                  </a:extLst>
                </a:gridCol>
                <a:gridCol w="6274805">
                  <a:extLst>
                    <a:ext uri="{9D8B030D-6E8A-4147-A177-3AD203B41FA5}">
                      <a16:colId xmlns:a16="http://schemas.microsoft.com/office/drawing/2014/main" val="4003511806"/>
                    </a:ext>
                  </a:extLst>
                </a:gridCol>
                <a:gridCol w="1432146">
                  <a:extLst>
                    <a:ext uri="{9D8B030D-6E8A-4147-A177-3AD203B41FA5}">
                      <a16:colId xmlns:a16="http://schemas.microsoft.com/office/drawing/2014/main" val="386303472"/>
                    </a:ext>
                  </a:extLst>
                </a:gridCol>
              </a:tblGrid>
              <a:tr h="762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A</a:t>
                      </a:r>
                      <a:r>
                        <a:rPr lang="en-IN" sz="2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rticle</a:t>
                      </a:r>
                      <a:r>
                        <a:rPr lang="en-IN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 Details</a:t>
                      </a:r>
                    </a:p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(Article Title, Journal Name, Lead Author, Volume No. Issue No. Page No, Year of Publication)</a:t>
                      </a:r>
                      <a:endParaRPr lang="en-IN" sz="2800" b="0" i="0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Key Findings</a:t>
                      </a:r>
                      <a:endParaRPr lang="en-IN" sz="2800" b="1" i="0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Ref #</a:t>
                      </a:r>
                      <a:endParaRPr lang="en-IN" sz="2800" b="1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227048834"/>
                  </a:ext>
                </a:extLst>
              </a:tr>
              <a:tr h="876546"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1446847401"/>
                  </a:ext>
                </a:extLst>
              </a:tr>
              <a:tr h="825539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455637976"/>
                  </a:ext>
                </a:extLst>
              </a:tr>
              <a:tr h="825539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489683364"/>
                  </a:ext>
                </a:extLst>
              </a:tr>
              <a:tr h="876546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3782778342"/>
                  </a:ext>
                </a:extLst>
              </a:tr>
              <a:tr h="825539"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6839574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15B2F4-2419-6000-68F8-06E5023CA9BA}"/>
              </a:ext>
            </a:extLst>
          </p:cNvPr>
          <p:cNvSpPr txBox="1"/>
          <p:nvPr/>
        </p:nvSpPr>
        <p:spPr>
          <a:xfrm>
            <a:off x="0" y="930704"/>
            <a:ext cx="120329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Summarize the literature review by consolidating key findings, insights, and interpretations.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From the &lt;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682&gt; research papers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available in the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Scopus database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on &lt;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natural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fibre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composites in the automotive industry (2013–2025)&gt;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selected the &lt;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10&gt; most relevant papers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published in top journals for an in-depth analysis.</a:t>
            </a:r>
          </a:p>
        </p:txBody>
      </p:sp>
    </p:spTree>
    <p:extLst>
      <p:ext uri="{BB962C8B-B14F-4D97-AF65-F5344CB8AC3E}">
        <p14:creationId xmlns:p14="http://schemas.microsoft.com/office/powerpoint/2010/main" val="267066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AA60CA-30A6-7946-5FA9-57A4814CD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E43C44-8B0D-CFF1-1741-686C37A8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73F87C-F9F3-F170-4B85-D5E617EF27CD}"/>
              </a:ext>
            </a:extLst>
          </p:cNvPr>
          <p:cNvSpPr txBox="1">
            <a:spLocks/>
          </p:cNvSpPr>
          <p:nvPr/>
        </p:nvSpPr>
        <p:spPr>
          <a:xfrm>
            <a:off x="104503" y="132245"/>
            <a:ext cx="6751142" cy="4998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Times New Roman" panose="02020603050405020304" pitchFamily="18" charset="0"/>
              </a:rPr>
              <a:t>Chapter-2: Literature Review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357DE5-553F-25C6-493B-D65B3B902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999008"/>
              </p:ext>
            </p:extLst>
          </p:nvPr>
        </p:nvGraphicFramePr>
        <p:xfrm>
          <a:off x="291548" y="1729409"/>
          <a:ext cx="11847444" cy="514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39072">
                  <a:extLst>
                    <a:ext uri="{9D8B030D-6E8A-4147-A177-3AD203B41FA5}">
                      <a16:colId xmlns:a16="http://schemas.microsoft.com/office/drawing/2014/main" val="1166323747"/>
                    </a:ext>
                  </a:extLst>
                </a:gridCol>
                <a:gridCol w="5976226">
                  <a:extLst>
                    <a:ext uri="{9D8B030D-6E8A-4147-A177-3AD203B41FA5}">
                      <a16:colId xmlns:a16="http://schemas.microsoft.com/office/drawing/2014/main" val="4003511806"/>
                    </a:ext>
                  </a:extLst>
                </a:gridCol>
                <a:gridCol w="1432146">
                  <a:extLst>
                    <a:ext uri="{9D8B030D-6E8A-4147-A177-3AD203B41FA5}">
                      <a16:colId xmlns:a16="http://schemas.microsoft.com/office/drawing/2014/main" val="386303472"/>
                    </a:ext>
                  </a:extLst>
                </a:gridCol>
              </a:tblGrid>
              <a:tr h="7832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A</a:t>
                      </a:r>
                      <a:r>
                        <a:rPr lang="en-IN" sz="2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rticle</a:t>
                      </a:r>
                      <a:r>
                        <a:rPr lang="en-IN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 Details</a:t>
                      </a:r>
                    </a:p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(Article Title, Journal Name, Lead Author, Volume No. Issue No. Page No, Year of Publication)</a:t>
                      </a:r>
                      <a:endParaRPr lang="en-IN" sz="2800" b="0" i="0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Key Findings</a:t>
                      </a:r>
                      <a:endParaRPr lang="en-IN" sz="2800" b="1" i="0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Ref #</a:t>
                      </a:r>
                      <a:endParaRPr lang="en-IN" sz="2800" b="1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227048834"/>
                  </a:ext>
                </a:extLst>
              </a:tr>
              <a:tr h="900518"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1446847401"/>
                  </a:ext>
                </a:extLst>
              </a:tr>
              <a:tr h="848116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455637976"/>
                  </a:ext>
                </a:extLst>
              </a:tr>
              <a:tr h="848116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489683364"/>
                  </a:ext>
                </a:extLst>
              </a:tr>
              <a:tr h="900518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3782778342"/>
                  </a:ext>
                </a:extLst>
              </a:tr>
              <a:tr h="848116"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6839574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165F0FE-052D-70E0-ADAA-A5A175F101B1}"/>
              </a:ext>
            </a:extLst>
          </p:cNvPr>
          <p:cNvSpPr txBox="1"/>
          <p:nvPr/>
        </p:nvSpPr>
        <p:spPr>
          <a:xfrm>
            <a:off x="0" y="930704"/>
            <a:ext cx="120329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Summarize the literature review by consolidating key findings, insights, and interpretations.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From the &lt;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682&gt; research papers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available in the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Scopus database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on &lt;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natural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fibre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composites in the automotive industry (2013–2025)&gt;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selected the &lt;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10&gt; most relevant papers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published in top journals for an in-depth analysis.</a:t>
            </a:r>
          </a:p>
        </p:txBody>
      </p:sp>
    </p:spTree>
    <p:extLst>
      <p:ext uri="{BB962C8B-B14F-4D97-AF65-F5344CB8AC3E}">
        <p14:creationId xmlns:p14="http://schemas.microsoft.com/office/powerpoint/2010/main" val="2435666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C24E8-65AF-6B3B-C17F-469CCC39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D2235-B77F-CE38-918E-1275F6A5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1CCB12-BF62-29ED-A87F-8BD80696BC0E}"/>
              </a:ext>
            </a:extLst>
          </p:cNvPr>
          <p:cNvSpPr txBox="1"/>
          <p:nvPr/>
        </p:nvSpPr>
        <p:spPr>
          <a:xfrm>
            <a:off x="227218" y="185203"/>
            <a:ext cx="7317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Chapter-3: Problem Statement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45AD1D-97A1-18D7-575F-83EC4009BA2F}"/>
              </a:ext>
            </a:extLst>
          </p:cNvPr>
          <p:cNvSpPr txBox="1"/>
          <p:nvPr/>
        </p:nvSpPr>
        <p:spPr>
          <a:xfrm>
            <a:off x="169314" y="901934"/>
            <a:ext cx="1182509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dirty="0">
                <a:solidFill>
                  <a:srgbClr val="C00000"/>
                </a:solidFill>
                <a:latin typeface="Arial Rounded MT Bold" panose="020F0704030504030204" pitchFamily="34" charset="0"/>
              </a:rPr>
              <a:t>Discuss the problem statement identified through Literature Survey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305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09A57-5DBA-7326-3FCA-9EE8A3C26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25D07-F700-4A92-DA45-84F3D319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7BC13F-7A3E-A677-AEB8-D26A5415B15F}"/>
              </a:ext>
            </a:extLst>
          </p:cNvPr>
          <p:cNvSpPr txBox="1"/>
          <p:nvPr/>
        </p:nvSpPr>
        <p:spPr>
          <a:xfrm>
            <a:off x="227217" y="185203"/>
            <a:ext cx="77131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Chapter-3: Problem Solutions &amp; Proposed Methodology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F31ABF-2A58-4CFD-3094-0A1A20E366C3}"/>
              </a:ext>
            </a:extLst>
          </p:cNvPr>
          <p:cNvSpPr txBox="1"/>
          <p:nvPr/>
        </p:nvSpPr>
        <p:spPr>
          <a:xfrm>
            <a:off x="169314" y="901934"/>
            <a:ext cx="1182509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dirty="0">
                <a:solidFill>
                  <a:srgbClr val="C00000"/>
                </a:solidFill>
                <a:latin typeface="Arial Rounded MT Bold" panose="020F0704030504030204" pitchFamily="34" charset="0"/>
              </a:rPr>
              <a:t>Discuss the various solutions and proposed methodology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8230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C24E8-65AF-6B3B-C17F-469CCC39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D2235-B77F-CE38-918E-1275F6A5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26AF6A-48CB-BE31-A0D5-9EDE8F2095A6}"/>
              </a:ext>
            </a:extLst>
          </p:cNvPr>
          <p:cNvSpPr txBox="1"/>
          <p:nvPr/>
        </p:nvSpPr>
        <p:spPr>
          <a:xfrm>
            <a:off x="191925" y="1004910"/>
            <a:ext cx="5259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Work done (results and findings)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217" y="1466575"/>
            <a:ext cx="1174015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1600" b="1" dirty="0">
                <a:solidFill>
                  <a:srgbClr val="C000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Experiment/Calculation done (flow chart of experiment or calculation Schematic diagram/Algorithm/Method etc  </a:t>
            </a:r>
            <a:endParaRPr lang="en-US" sz="1600" dirty="0">
              <a:solidFill>
                <a:srgbClr val="C00000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B81A36-47C6-AF43-9F9A-1D7B45849440}"/>
              </a:ext>
            </a:extLst>
          </p:cNvPr>
          <p:cNvSpPr txBox="1"/>
          <p:nvPr/>
        </p:nvSpPr>
        <p:spPr>
          <a:xfrm>
            <a:off x="227217" y="185203"/>
            <a:ext cx="7713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Chapter-4: Title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886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55580-A0B8-0236-9EDE-FA1DF60D1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4F544-188D-64B1-9556-4459E2405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912B4-77CE-C018-5435-FD262D4AA42B}"/>
              </a:ext>
            </a:extLst>
          </p:cNvPr>
          <p:cNvSpPr txBox="1"/>
          <p:nvPr/>
        </p:nvSpPr>
        <p:spPr>
          <a:xfrm>
            <a:off x="227217" y="185203"/>
            <a:ext cx="7713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white"/>
                </a:solidFill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Chapter-5: Conclusion &amp; Future Scope</a:t>
            </a:r>
            <a:endParaRPr lang="en-US" sz="2400" dirty="0">
              <a:solidFill>
                <a:prstClr val="white"/>
              </a:solidFill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CB11CE-BC16-25BF-4D63-783B858F04AF}"/>
              </a:ext>
            </a:extLst>
          </p:cNvPr>
          <p:cNvSpPr/>
          <p:nvPr/>
        </p:nvSpPr>
        <p:spPr>
          <a:xfrm>
            <a:off x="130217" y="896775"/>
            <a:ext cx="1174015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1600" b="1" dirty="0">
                <a:solidFill>
                  <a:srgbClr val="C000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Performance comparison with existing works &amp; Future directions for further improvement</a:t>
            </a:r>
            <a:endParaRPr lang="en-US" sz="1600" dirty="0">
              <a:solidFill>
                <a:srgbClr val="7030A0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90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D9CBE-68AE-890A-49FC-6BB824DA3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EA0C6-A7E1-9D56-1A4E-57FA54F2F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320637-1157-E465-704A-F3316C637B51}"/>
              </a:ext>
            </a:extLst>
          </p:cNvPr>
          <p:cNvSpPr txBox="1"/>
          <p:nvPr/>
        </p:nvSpPr>
        <p:spPr>
          <a:xfrm>
            <a:off x="227217" y="185203"/>
            <a:ext cx="771313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Workshops / Webinars/Conferences</a:t>
            </a:r>
            <a:r>
              <a:rPr lang="en-IN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D770F6-6B94-3072-FFF7-B0B4FC479D16}"/>
              </a:ext>
            </a:extLst>
          </p:cNvPr>
          <p:cNvGraphicFramePr>
            <a:graphicFrameLocks noGrp="1"/>
          </p:cNvGraphicFramePr>
          <p:nvPr/>
        </p:nvGraphicFramePr>
        <p:xfrm>
          <a:off x="262835" y="980711"/>
          <a:ext cx="11723756" cy="46468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4452">
                  <a:extLst>
                    <a:ext uri="{9D8B030D-6E8A-4147-A177-3AD203B41FA5}">
                      <a16:colId xmlns:a16="http://schemas.microsoft.com/office/drawing/2014/main" val="2302047190"/>
                    </a:ext>
                  </a:extLst>
                </a:gridCol>
                <a:gridCol w="5137426">
                  <a:extLst>
                    <a:ext uri="{9D8B030D-6E8A-4147-A177-3AD203B41FA5}">
                      <a16:colId xmlns:a16="http://schemas.microsoft.com/office/drawing/2014/main" val="2408371071"/>
                    </a:ext>
                  </a:extLst>
                </a:gridCol>
                <a:gridCol w="3781287">
                  <a:extLst>
                    <a:ext uri="{9D8B030D-6E8A-4147-A177-3AD203B41FA5}">
                      <a16:colId xmlns:a16="http://schemas.microsoft.com/office/drawing/2014/main" val="4012400830"/>
                    </a:ext>
                  </a:extLst>
                </a:gridCol>
                <a:gridCol w="2080591">
                  <a:extLst>
                    <a:ext uri="{9D8B030D-6E8A-4147-A177-3AD203B41FA5}">
                      <a16:colId xmlns:a16="http://schemas.microsoft.com/office/drawing/2014/main" val="389011085"/>
                    </a:ext>
                  </a:extLst>
                </a:gridCol>
              </a:tblGrid>
              <a:tr h="71556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Sl.</a:t>
                      </a:r>
                      <a:endParaRPr lang="en-IN" sz="28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Name of the Event</a:t>
                      </a:r>
                      <a:endParaRPr lang="en-IN" sz="28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Organisation/Venue</a:t>
                      </a:r>
                      <a:endParaRPr lang="en-IN" sz="28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Dates</a:t>
                      </a:r>
                      <a:endParaRPr lang="en-IN" sz="28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4475736"/>
                  </a:ext>
                </a:extLst>
              </a:tr>
              <a:tr h="786258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C0000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688564"/>
                  </a:ext>
                </a:extLst>
              </a:tr>
              <a:tr h="786258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C0000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527083"/>
                  </a:ext>
                </a:extLst>
              </a:tr>
              <a:tr h="786258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C0000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281836"/>
                  </a:ext>
                </a:extLst>
              </a:tr>
              <a:tr h="786258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C0000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732917"/>
                  </a:ext>
                </a:extLst>
              </a:tr>
              <a:tr h="786258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C000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674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217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80761-4C48-692A-4DF4-844148C0D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563C6-74AC-6915-31B3-029E136B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DDBEC9-7148-F3AE-1BED-4080F6D2B96C}"/>
              </a:ext>
            </a:extLst>
          </p:cNvPr>
          <p:cNvSpPr txBox="1"/>
          <p:nvPr/>
        </p:nvSpPr>
        <p:spPr>
          <a:xfrm>
            <a:off x="227217" y="185203"/>
            <a:ext cx="7713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400" b="1" dirty="0">
                <a:solidFill>
                  <a:prstClr val="white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Journal Paper/Conf Paper/Book chapter/Patents</a:t>
            </a:r>
            <a:endParaRPr lang="en-GB" sz="2400" dirty="0">
              <a:solidFill>
                <a:prstClr val="white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E2406CF3-331A-2818-8DB2-1275D8120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381592"/>
              </p:ext>
            </p:extLst>
          </p:nvPr>
        </p:nvGraphicFramePr>
        <p:xfrm>
          <a:off x="0" y="854766"/>
          <a:ext cx="11034508" cy="5746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9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575">
                  <a:extLst>
                    <a:ext uri="{9D8B030D-6E8A-4147-A177-3AD203B41FA5}">
                      <a16:colId xmlns:a16="http://schemas.microsoft.com/office/drawing/2014/main" val="2376930926"/>
                    </a:ext>
                  </a:extLst>
                </a:gridCol>
                <a:gridCol w="1677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551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Sl.</a:t>
                      </a:r>
                      <a:endParaRPr lang="en-IN" sz="20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Title of paper  </a:t>
                      </a:r>
                      <a:endParaRPr lang="en-IN" sz="20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Journal/Conference/Book name</a:t>
                      </a:r>
                    </a:p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7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[for Indexed/published give </a:t>
                      </a:r>
                      <a:r>
                        <a:rPr lang="en-IN" sz="1700" dirty="0" err="1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doi</a:t>
                      </a:r>
                      <a:r>
                        <a:rPr lang="en-IN" sz="17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]</a:t>
                      </a:r>
                      <a:endParaRPr lang="en-IN" sz="17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4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Indexed/ Published/ Accepted/ In review</a:t>
                      </a:r>
                      <a:endParaRPr lang="en-IN" sz="14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SCI/Scopus</a:t>
                      </a:r>
                    </a:p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[Q1/Q2/Q3/Q4]</a:t>
                      </a:r>
                      <a:endParaRPr lang="en-IN" sz="20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98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9190755"/>
                  </a:ext>
                </a:extLst>
              </a:tr>
              <a:tr h="93598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2934968"/>
                  </a:ext>
                </a:extLst>
              </a:tr>
              <a:tr h="93598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54215727"/>
                  </a:ext>
                </a:extLst>
              </a:tr>
              <a:tr h="93598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90964645"/>
                  </a:ext>
                </a:extLst>
              </a:tr>
              <a:tr h="93598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18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5076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9208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A15DC-7107-33D2-250D-48979CD98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E5DA9-6816-02E8-3B09-391D7517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1D15B6-490D-51A1-F356-1FDF0DE5F08D}"/>
              </a:ext>
            </a:extLst>
          </p:cNvPr>
          <p:cNvSpPr txBox="1"/>
          <p:nvPr/>
        </p:nvSpPr>
        <p:spPr>
          <a:xfrm>
            <a:off x="126226" y="785594"/>
            <a:ext cx="1135015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Minimum 80% references should be SCI/SSCI/AHCI Q1 (Not ESCI). Mention Quartile with every paper as per latest JCR List shared by Dean Research, SRU. (At least </a:t>
            </a:r>
            <a:r>
              <a:rPr lang="en-GB" sz="1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20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Papers in Reference List).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Follow the following style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Ghosh,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A.,Yadav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S.N.S.,Tsai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M.-H., Dubey, A., Lin, C.-T.,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Gwo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S., Yen, T.-J. (2024): Superior visible photoelectric response with Au/Cu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NiSnS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core-shell nanocrystal, ACS Applied Materials &amp; Interfaces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(SCI Q1)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16, 12033-12041.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Ghosh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D.,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Ghosh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A., Ali, M. Y., Bhattacharyya, S. (2018): Photoactive core-shell nanorods as bifunctional electrodes for boosting the performance of quantum dot sensitized solar cells and photoelectrochemical cells, Chemistry of Materials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(SCI Q1)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30, 6071-6081.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5041" y="139627"/>
            <a:ext cx="2175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References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625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A1BAF-6D6B-79A1-65B6-E37E8B965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15755-082B-905C-7300-050A4C372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899DB-0C50-6E06-DD36-ADF8FF91367C}"/>
              </a:ext>
            </a:extLst>
          </p:cNvPr>
          <p:cNvSpPr txBox="1"/>
          <p:nvPr/>
        </p:nvSpPr>
        <p:spPr>
          <a:xfrm>
            <a:off x="126226" y="785594"/>
            <a:ext cx="113501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117780-64C0-741D-FB2D-59361B941ACD}"/>
              </a:ext>
            </a:extLst>
          </p:cNvPr>
          <p:cNvSpPr/>
          <p:nvPr/>
        </p:nvSpPr>
        <p:spPr>
          <a:xfrm>
            <a:off x="375041" y="139627"/>
            <a:ext cx="2175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References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581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7FCDC-CCF5-E401-0B16-ACA5D79E5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65E6C-4AB0-1CD8-583A-61DFF793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7622E-E36F-7C00-C543-12FFAC27B9C9}"/>
              </a:ext>
            </a:extLst>
          </p:cNvPr>
          <p:cNvSpPr txBox="1"/>
          <p:nvPr/>
        </p:nvSpPr>
        <p:spPr>
          <a:xfrm>
            <a:off x="126226" y="785594"/>
            <a:ext cx="113501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E178F1-0E21-9097-368F-A2CD3599400F}"/>
              </a:ext>
            </a:extLst>
          </p:cNvPr>
          <p:cNvSpPr/>
          <p:nvPr/>
        </p:nvSpPr>
        <p:spPr>
          <a:xfrm>
            <a:off x="375041" y="139627"/>
            <a:ext cx="2175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References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992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187ED-45B0-562E-A601-AEC273BA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46AB0-B4B4-D466-135C-F491CFCE1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97B06F-AE4B-E21D-1868-A19CC6EE9C82}"/>
              </a:ext>
            </a:extLst>
          </p:cNvPr>
          <p:cNvSpPr txBox="1">
            <a:spLocks/>
          </p:cNvSpPr>
          <p:nvPr/>
        </p:nvSpPr>
        <p:spPr>
          <a:xfrm>
            <a:off x="185530" y="2998500"/>
            <a:ext cx="11416748" cy="19084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2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THANK YOU. </a:t>
            </a:r>
          </a:p>
          <a:p>
            <a:pPr marL="0" marR="0" lvl="0" indent="0" algn="ctr" defTabSz="914400" rtl="0" eaLnBrk="1" fontAlgn="auto" latinLnBrk="0" hangingPunct="1">
              <a:lnSpc>
                <a:spcPct val="2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Panel Members are requested to ask questions. I understand that this interaction may be recorded for the quality purpose.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63439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730</Words>
  <Application>Microsoft Office PowerPoint</Application>
  <PresentationFormat>Widescreen</PresentationFormat>
  <Paragraphs>189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Rounded MT Bold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Dr. Ajayan</cp:lastModifiedBy>
  <cp:revision>57</cp:revision>
  <dcterms:created xsi:type="dcterms:W3CDTF">2025-03-18T10:58:32Z</dcterms:created>
  <dcterms:modified xsi:type="dcterms:W3CDTF">2025-11-27T06:54:18Z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A7CC2B040E1242BCA8ECC8C411552075_11</vt:lpwstr>
  </property>
  <property fmtid="{D5CDD505-2E9C-101B-9397-08002B2CF9AE}" pid="3" name="KSOProductBuildVer">
    <vt:lpwstr>1033-12.2.0.20326</vt:lpwstr>
  </property>
</Properties>
</file>