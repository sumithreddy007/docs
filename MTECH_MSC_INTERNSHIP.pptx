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97" r:id="rId2"/>
    <p:sldId id="302" r:id="rId3"/>
    <p:sldId id="285" r:id="rId4"/>
    <p:sldId id="313" r:id="rId5"/>
    <p:sldId id="318" r:id="rId6"/>
    <p:sldId id="320" r:id="rId7"/>
    <p:sldId id="321" r:id="rId8"/>
    <p:sldId id="274" r:id="rId9"/>
    <p:sldId id="305" r:id="rId10"/>
    <p:sldId id="319" r:id="rId11"/>
    <p:sldId id="283" r:id="rId12"/>
    <p:sldId id="307" r:id="rId13"/>
    <p:sldId id="315" r:id="rId14"/>
    <p:sldId id="275" r:id="rId15"/>
    <p:sldId id="308" r:id="rId16"/>
    <p:sldId id="296" r:id="rId17"/>
    <p:sldId id="301" r:id="rId18"/>
    <p:sldId id="311" r:id="rId19"/>
    <p:sldId id="312" r:id="rId20"/>
    <p:sldId id="280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82" d="100"/>
          <a:sy n="82" d="100"/>
        </p:scale>
        <p:origin x="672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A3452ED-1AF1-2365-1AC8-E9EF0141320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0EE1F9-FBF1-C78E-76C8-4A6F8A71A63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DE4B9D-938E-4E55-BCB2-41D36B9A8E84}" type="datetimeFigureOut">
              <a:rPr lang="en-IN" smtClean="0"/>
              <a:pPr/>
              <a:t>27-11-2025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18CF26-2379-9D13-7C1A-71D4563917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2E5187-3E4E-9461-20DC-91893DCFB7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F7AE7A-7E3E-4738-AFB9-7991B644632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288443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CD48D5-1B43-4D18-82B2-B3A66EF1062D}" type="datetimeFigureOut">
              <a:rPr lang="en-IN" smtClean="0"/>
              <a:pPr/>
              <a:t>27-11-2025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F3098D-EA97-4A70-9912-3FE9AFDFE50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212057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Note: Keep/remove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F3098D-EA97-4A70-9912-3FE9AFDFE509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1D6C0-DD32-4DC8-B05C-E7963BAC8E4F}" type="datetime1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F510B-34B4-474C-AE80-98196578E8C5}" type="datetime1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B3D2F-2417-4288-A765-E366BA1D16A5}" type="datetime1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4E8AB-30C0-4464-82AA-6C8F5EA27FBB}" type="datetime1">
              <a:rPr lang="en-US" smtClean="0"/>
              <a:pPr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3222D-7BF5-4413-A892-D97988CB8E87}" type="datetime1">
              <a:rPr lang="en-US" smtClean="0"/>
              <a:pPr/>
              <a:t>11/27/2025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6E0DB-1B48-48EC-ACC3-7D771A4E2A0B}" type="datetime1">
              <a:rPr lang="en-US" smtClean="0"/>
              <a:pPr/>
              <a:t>11/27/2025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48F59-EF7D-40E5-8A5D-392B959FB913}" type="datetime1">
              <a:rPr lang="en-US" smtClean="0"/>
              <a:pPr/>
              <a:t>11/27/2025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549AC-A1C5-4DB9-B975-5747EFC49339}" type="datetime1">
              <a:rPr lang="en-US" smtClean="0"/>
              <a:pPr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7F64D-3F51-46C9-A1BA-FEE871EE080B}" type="datetime1">
              <a:rPr lang="en-US" smtClean="0"/>
              <a:pPr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D770A-C006-4BB9-B3C3-9A0239EEF8B3}" type="datetime1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C4C94-5DAC-44BD-825C-15C6E1DA254E}" type="datetime1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BF2149-1560-4C77-84A9-65E3FB36E82E}" type="datetime1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36584" y="4241899"/>
            <a:ext cx="11359876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45720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SR University, Warangal</a:t>
            </a:r>
            <a:endParaRPr kumimoji="0" lang="en-IN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School Name: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Department Name: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IN" sz="2400" b="1" dirty="0">
                <a:solidFill>
                  <a:srgbClr val="C00000"/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Program Name: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2400" b="1" dirty="0">
                <a:solidFill>
                  <a:srgbClr val="C00000"/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Company / Industry Name (if internship-based) : </a:t>
            </a:r>
            <a:endParaRPr lang="en-IN" sz="2400" b="1" dirty="0">
              <a:solidFill>
                <a:srgbClr val="C00000"/>
              </a:solidFill>
              <a:latin typeface="Arial Rounded MT Bold" panose="020F07040305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Google Shape;82;p16"/>
          <p:cNvSpPr txBox="1"/>
          <p:nvPr/>
        </p:nvSpPr>
        <p:spPr>
          <a:xfrm>
            <a:off x="2174720" y="764801"/>
            <a:ext cx="9179080" cy="359259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270760" algn="l"/>
              </a:tabLst>
              <a:defRPr/>
            </a:pPr>
            <a:r>
              <a:rPr kumimoji="0" lang="en-I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10000"/>
                  </a:srgbClr>
                </a:solidFill>
                <a:effectLst/>
                <a:uLnTx/>
                <a:uFillTx/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Name: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270760" algn="l"/>
              </a:tabLst>
              <a:defRPr/>
            </a:pPr>
            <a:r>
              <a:rPr kumimoji="0" lang="en-IN" alt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70AD47">
                    <a:lumMod val="10000"/>
                  </a:srgbClr>
                </a:solidFill>
                <a:effectLst/>
                <a:uLnTx/>
                <a:uFillTx/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Enrollment</a:t>
            </a:r>
            <a:r>
              <a:rPr kumimoji="0" lang="en-I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10000"/>
                  </a:srgbClr>
                </a:solidFill>
                <a:effectLst/>
                <a:uLnTx/>
                <a:uFillTx/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 No: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270760" algn="l"/>
              </a:tabLst>
              <a:defRPr/>
            </a:pPr>
            <a:r>
              <a:rPr kumimoji="0" lang="en-I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10000"/>
                  </a:srgbClr>
                </a:solidFill>
                <a:effectLst/>
                <a:uLnTx/>
                <a:uFillTx/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Year of Admission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: 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70AD47">
                  <a:lumMod val="10000"/>
                </a:srgbClr>
              </a:solidFill>
              <a:effectLst/>
              <a:uLnTx/>
              <a:uFillTx/>
              <a:latin typeface="Arial Rounded MT Bold" panose="020F0704030504030204" pitchFamily="34" charset="0"/>
              <a:ea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270760" algn="l"/>
              </a:tabLst>
              <a:defRPr/>
            </a:pPr>
            <a:r>
              <a:rPr lang="en-US" sz="2400" b="1" dirty="0">
                <a:solidFill>
                  <a:srgbClr val="70AD47">
                    <a:lumMod val="10000"/>
                  </a:srgbClr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Project Title: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270760" algn="l"/>
              </a:tabLst>
              <a:defRPr/>
            </a:pPr>
            <a:r>
              <a:rPr lang="en-US" sz="2400" b="1" dirty="0">
                <a:solidFill>
                  <a:srgbClr val="70AD47">
                    <a:lumMod val="10000"/>
                  </a:srgbClr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Industry Mentor: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270760" algn="l"/>
              </a:tabLst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10000"/>
                  </a:srgbClr>
                </a:solidFill>
                <a:effectLst/>
                <a:uLnTx/>
                <a:uFillTx/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Supervisor: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270760" algn="l"/>
              </a:tabLst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10000"/>
                  </a:srgbClr>
                </a:solidFill>
                <a:effectLst/>
                <a:uLnTx/>
                <a:uFillTx/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Date of </a:t>
            </a:r>
            <a:r>
              <a:rPr lang="en-US" sz="2400" b="1" dirty="0">
                <a:solidFill>
                  <a:srgbClr val="70AD47">
                    <a:lumMod val="10000"/>
                  </a:srgbClr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Viva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10000"/>
                  </a:srgbClr>
                </a:solidFill>
                <a:effectLst/>
                <a:uLnTx/>
                <a:uFillTx/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270760" algn="l"/>
              </a:tabLst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70AD47">
                  <a:lumMod val="10000"/>
                </a:srgbClr>
              </a:solidFill>
              <a:effectLst/>
              <a:uLnTx/>
              <a:uFillTx/>
              <a:latin typeface="Arial Rounded MT Bold" panose="020F0704030504030204" pitchFamily="34" charset="0"/>
              <a:ea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270760" algn="l"/>
              </a:tabLst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10000"/>
                  </a:srgbClr>
                </a:solidFill>
                <a:effectLst/>
                <a:uLnTx/>
                <a:uFillTx/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 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618960-8005-486C-9A75-10CB2AAC16F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D975B00-1ACA-0661-5530-AEABA2DC220A}"/>
              </a:ext>
            </a:extLst>
          </p:cNvPr>
          <p:cNvSpPr txBox="1"/>
          <p:nvPr/>
        </p:nvSpPr>
        <p:spPr>
          <a:xfrm>
            <a:off x="1262209" y="117806"/>
            <a:ext cx="59015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dirty="0">
                <a:solidFill>
                  <a:prstClr val="white"/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MTech/MSc Viva 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Rounded MT Bold" panose="020F07040305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618960-8005-486C-9A75-10CB2AAC16F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73613" y="2047606"/>
            <a:ext cx="9844773" cy="2785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Times New Roman" panose="02020603050405020304" pitchFamily="18" charset="0"/>
              </a:rPr>
              <a:t>Supervisor: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IN" sz="2800" b="1" dirty="0">
                <a:solidFill>
                  <a:prstClr val="black"/>
                </a:solidFill>
                <a:latin typeface="Arial Rounded MT Bold" panose="020F0704030504030204" pitchFamily="34" charset="0"/>
                <a:cs typeface="Times New Roman" panose="02020603050405020304" pitchFamily="18" charset="0"/>
              </a:rPr>
              <a:t>Industry Mentor: </a:t>
            </a:r>
            <a:endParaRPr kumimoji="0" lang="en-IN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Times New Roman" panose="02020603050405020304" pitchFamily="18" charset="0"/>
              </a:rPr>
              <a:t>Department Internal Member: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Times New Roman" panose="02020603050405020304" pitchFamily="18" charset="0"/>
              </a:rPr>
              <a:t>External Member: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8" name="Title 3"/>
          <p:cNvSpPr txBox="1"/>
          <p:nvPr/>
        </p:nvSpPr>
        <p:spPr>
          <a:xfrm>
            <a:off x="0" y="0"/>
            <a:ext cx="8325094" cy="7557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2800" b="1" dirty="0">
                <a:solidFill>
                  <a:prstClr val="white"/>
                </a:solidFill>
                <a:latin typeface="Arial Rounded MT Bold" panose="020F0704030504030204" pitchFamily="34" charset="0"/>
              </a:rPr>
              <a:t>Viva Panel</a:t>
            </a: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Rounded MT Bold" panose="020F0704030504030204" pitchFamily="34" charset="0"/>
                <a:ea typeface="+mj-ea"/>
                <a:cs typeface="+mj-cs"/>
              </a:rPr>
              <a:t> Members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AA68CD-A75F-BFC9-3D68-8AB767021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5E150B-9257-C616-D5D1-EA681128A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618960-8005-486C-9A75-10CB2AAC16F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103366-98A3-72C9-141C-4241FC32C8BA}"/>
              </a:ext>
            </a:extLst>
          </p:cNvPr>
          <p:cNvSpPr txBox="1"/>
          <p:nvPr/>
        </p:nvSpPr>
        <p:spPr>
          <a:xfrm>
            <a:off x="0" y="137552"/>
            <a:ext cx="81434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Rounded MT Bold" panose="020F0704030504030204" pitchFamily="34" charset="0"/>
                <a:ea typeface="Malgun Gothic" panose="020B0503020000020004" pitchFamily="34" charset="-127"/>
                <a:cs typeface="+mn-cs"/>
              </a:rPr>
              <a:t>Marks Memo of Grades by Exam Section (</a:t>
            </a: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Rounded MT Bold" panose="020F0704030504030204" pitchFamily="34" charset="0"/>
                <a:ea typeface="Malgun Gothic" panose="020B0503020000020004" pitchFamily="34" charset="-127"/>
                <a:cs typeface="+mn-cs"/>
              </a:rPr>
              <a:t>Semester-1</a:t>
            </a: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Rounded MT Bold" panose="020F0704030504030204" pitchFamily="34" charset="0"/>
                <a:ea typeface="Malgun Gothic" panose="020B0503020000020004" pitchFamily="34" charset="-127"/>
                <a:cs typeface="+mn-cs"/>
              </a:rPr>
              <a:t>) </a:t>
            </a:r>
            <a:endParaRPr kumimoji="0" lang="en-IN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3"/>
          <a:srcRect b="8793"/>
          <a:stretch>
            <a:fillRect/>
          </a:stretch>
        </p:blipFill>
        <p:spPr bwMode="auto">
          <a:xfrm>
            <a:off x="1152599" y="888187"/>
            <a:ext cx="8051036" cy="556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9052103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B2B71B-5DFA-87BA-AE46-4AA75EBD5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795D62-04B9-C677-65CC-5581DF401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618960-8005-486C-9A75-10CB2AAC16F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A26567-FBDB-EFF8-A3B3-B71E2CB65FDC}"/>
              </a:ext>
            </a:extLst>
          </p:cNvPr>
          <p:cNvSpPr txBox="1"/>
          <p:nvPr/>
        </p:nvSpPr>
        <p:spPr>
          <a:xfrm>
            <a:off x="0" y="137552"/>
            <a:ext cx="81434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Rounded MT Bold" panose="020F0704030504030204" pitchFamily="34" charset="0"/>
                <a:ea typeface="Malgun Gothic" panose="020B0503020000020004" pitchFamily="34" charset="-127"/>
                <a:cs typeface="+mn-cs"/>
              </a:rPr>
              <a:t>Marks Memo of Grades by Exam Section (</a:t>
            </a: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Rounded MT Bold" panose="020F0704030504030204" pitchFamily="34" charset="0"/>
                <a:ea typeface="Malgun Gothic" panose="020B0503020000020004" pitchFamily="34" charset="-127"/>
                <a:cs typeface="+mn-cs"/>
              </a:rPr>
              <a:t>Semester-2</a:t>
            </a: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Rounded MT Bold" panose="020F0704030504030204" pitchFamily="34" charset="0"/>
                <a:ea typeface="Malgun Gothic" panose="020B0503020000020004" pitchFamily="34" charset="-127"/>
                <a:cs typeface="+mn-cs"/>
              </a:rPr>
              <a:t>) </a:t>
            </a:r>
            <a:endParaRPr kumimoji="0" lang="en-IN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D116A1F1-F6BA-6A53-34DF-98FEBB1CE1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 b="8793"/>
          <a:stretch>
            <a:fillRect/>
          </a:stretch>
        </p:blipFill>
        <p:spPr bwMode="auto">
          <a:xfrm>
            <a:off x="1152599" y="888187"/>
            <a:ext cx="8051036" cy="556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1652754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1BC8B2-FCE3-5C65-8633-330CD8763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B4D151-F109-EA89-6E93-97DF3A9EC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618960-8005-486C-9A75-10CB2AAC16F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C2202D-37D4-F1D1-56D6-9DDDC3FC3894}"/>
              </a:ext>
            </a:extLst>
          </p:cNvPr>
          <p:cNvSpPr txBox="1"/>
          <p:nvPr/>
        </p:nvSpPr>
        <p:spPr>
          <a:xfrm>
            <a:off x="0" y="137552"/>
            <a:ext cx="81434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Rounded MT Bold" panose="020F0704030504030204" pitchFamily="34" charset="0"/>
                <a:ea typeface="Malgun Gothic" panose="020B0503020000020004" pitchFamily="34" charset="-127"/>
                <a:cs typeface="+mn-cs"/>
              </a:rPr>
              <a:t>Marks Memo of Grades by Exam Section (</a:t>
            </a: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Rounded MT Bold" panose="020F0704030504030204" pitchFamily="34" charset="0"/>
                <a:ea typeface="Malgun Gothic" panose="020B0503020000020004" pitchFamily="34" charset="-127"/>
                <a:cs typeface="+mn-cs"/>
              </a:rPr>
              <a:t>Semester-3</a:t>
            </a: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Rounded MT Bold" panose="020F0704030504030204" pitchFamily="34" charset="0"/>
                <a:ea typeface="Malgun Gothic" panose="020B0503020000020004" pitchFamily="34" charset="-127"/>
                <a:cs typeface="+mn-cs"/>
              </a:rPr>
              <a:t>) </a:t>
            </a:r>
            <a:endParaRPr kumimoji="0" lang="en-IN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6CD1664A-9F14-9033-EF9F-1806DC71D3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 b="8793"/>
          <a:stretch>
            <a:fillRect/>
          </a:stretch>
        </p:blipFill>
        <p:spPr bwMode="auto">
          <a:xfrm>
            <a:off x="1152599" y="888187"/>
            <a:ext cx="8051036" cy="556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09661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6D758E-7F52-E5A8-DEC8-F8ED0C9F0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1704F4-5164-D701-900C-7F8779D33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618960-8005-486C-9A75-10CB2AAC16F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C58080-75A2-DB0D-97E4-7EF4721D1956}"/>
              </a:ext>
            </a:extLst>
          </p:cNvPr>
          <p:cNvSpPr txBox="1"/>
          <p:nvPr/>
        </p:nvSpPr>
        <p:spPr>
          <a:xfrm>
            <a:off x="0" y="137552"/>
            <a:ext cx="81434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IN" sz="2400" b="1" dirty="0">
                <a:solidFill>
                  <a:prstClr val="white"/>
                </a:solidFill>
                <a:latin typeface="Arial Rounded MT Bold" panose="020F0704030504030204" pitchFamily="34" charset="0"/>
                <a:ea typeface="Malgun Gothic" panose="020B0503020000020004" pitchFamily="34" charset="-127"/>
              </a:rPr>
              <a:t>Internship Offer Letter</a:t>
            </a:r>
            <a:endParaRPr lang="en-IN" sz="2400" b="1" dirty="0">
              <a:solidFill>
                <a:prstClr val="white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CB4C76-3FEE-F07C-EC81-BDEBED06298F}"/>
              </a:ext>
            </a:extLst>
          </p:cNvPr>
          <p:cNvSpPr txBox="1"/>
          <p:nvPr/>
        </p:nvSpPr>
        <p:spPr>
          <a:xfrm>
            <a:off x="242596" y="1184988"/>
            <a:ext cx="4546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(Add the screenshot of Internship Offer Letter)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95590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668A4B-C206-301B-00CD-2FDA3E25C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9A7A59-4C9E-7D0C-09B6-1BED4DC35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618960-8005-486C-9A75-10CB2AAC16F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07E1F0-EA1E-FCF4-DC87-DD6B25EE83B4}"/>
              </a:ext>
            </a:extLst>
          </p:cNvPr>
          <p:cNvSpPr txBox="1"/>
          <p:nvPr/>
        </p:nvSpPr>
        <p:spPr>
          <a:xfrm>
            <a:off x="0" y="137552"/>
            <a:ext cx="81434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IN" sz="2400" b="1" dirty="0">
                <a:solidFill>
                  <a:prstClr val="white"/>
                </a:solidFill>
                <a:latin typeface="Arial Rounded MT Bold" panose="020F0704030504030204" pitchFamily="34" charset="0"/>
                <a:ea typeface="Malgun Gothic" panose="020B0503020000020004" pitchFamily="34" charset="-127"/>
              </a:rPr>
              <a:t>Receipt of Internship Payment </a:t>
            </a:r>
            <a:endParaRPr lang="en-IN" sz="2400" b="1" dirty="0">
              <a:solidFill>
                <a:prstClr val="white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EF90E6-C0B7-B8C4-99E5-A0D2E5DD1F40}"/>
              </a:ext>
            </a:extLst>
          </p:cNvPr>
          <p:cNvSpPr txBox="1"/>
          <p:nvPr/>
        </p:nvSpPr>
        <p:spPr>
          <a:xfrm>
            <a:off x="298580" y="1203649"/>
            <a:ext cx="95814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(Can include the screenshot of payment received proof like Check or bank statement for one month)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028928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612997-B8F6-AF3D-13FE-616719E67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3EE45F-7AC8-8B5C-EBB5-EC3547E60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618960-8005-486C-9A75-10CB2AAC16F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Google Shape;175;p25">
            <a:extLst>
              <a:ext uri="{FF2B5EF4-FFF2-40B4-BE49-F238E27FC236}">
                <a16:creationId xmlns:a16="http://schemas.microsoft.com/office/drawing/2014/main" id="{407009F7-764E-A68E-4E9F-41BCA4B3A330}"/>
              </a:ext>
            </a:extLst>
          </p:cNvPr>
          <p:cNvSpPr txBox="1">
            <a:spLocks/>
          </p:cNvSpPr>
          <p:nvPr/>
        </p:nvSpPr>
        <p:spPr>
          <a:xfrm>
            <a:off x="280554" y="110948"/>
            <a:ext cx="6614767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>
              <a:spcBef>
                <a:spcPts val="0"/>
              </a:spcBef>
              <a:defRPr/>
            </a:pPr>
            <a:r>
              <a:rPr lang="en-IN" sz="2800" b="1" dirty="0">
                <a:solidFill>
                  <a:prstClr val="white"/>
                </a:solidFill>
                <a:latin typeface="Arial Rounded MT Bold" panose="020F0704030504030204" pitchFamily="34" charset="0"/>
                <a:ea typeface="Tahoma" pitchFamily="34" charset="0"/>
                <a:cs typeface="Tahoma" pitchFamily="34" charset="0"/>
              </a:rPr>
              <a:t>Outcome/Impact of the Project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45C48FA-B639-4FD0-04CC-027D4DB155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0634666"/>
              </p:ext>
            </p:extLst>
          </p:nvPr>
        </p:nvGraphicFramePr>
        <p:xfrm>
          <a:off x="107207" y="1349528"/>
          <a:ext cx="11912424" cy="27006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83822">
                  <a:extLst>
                    <a:ext uri="{9D8B030D-6E8A-4147-A177-3AD203B41FA5}">
                      <a16:colId xmlns:a16="http://schemas.microsoft.com/office/drawing/2014/main" val="4188893327"/>
                    </a:ext>
                  </a:extLst>
                </a:gridCol>
                <a:gridCol w="9528602">
                  <a:extLst>
                    <a:ext uri="{9D8B030D-6E8A-4147-A177-3AD203B41FA5}">
                      <a16:colId xmlns:a16="http://schemas.microsoft.com/office/drawing/2014/main" val="2676605491"/>
                    </a:ext>
                  </a:extLst>
                </a:gridCol>
              </a:tblGrid>
              <a:tr h="900211">
                <a:tc>
                  <a:txBody>
                    <a:bodyPr/>
                    <a:lstStyle/>
                    <a:p>
                      <a:endParaRPr lang="en-GB" sz="2800" dirty="0">
                        <a:solidFill>
                          <a:srgbClr val="C0000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20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0243936"/>
                  </a:ext>
                </a:extLst>
              </a:tr>
              <a:tr h="900211">
                <a:tc>
                  <a:txBody>
                    <a:bodyPr/>
                    <a:lstStyle/>
                    <a:p>
                      <a:endParaRPr lang="en-GB" sz="2800" dirty="0">
                        <a:solidFill>
                          <a:srgbClr val="C0000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20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2621278"/>
                  </a:ext>
                </a:extLst>
              </a:tr>
              <a:tr h="900211">
                <a:tc>
                  <a:txBody>
                    <a:bodyPr/>
                    <a:lstStyle/>
                    <a:p>
                      <a:endParaRPr lang="en-GB" sz="2800" dirty="0">
                        <a:solidFill>
                          <a:srgbClr val="C0000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20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28135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86676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224FEB-C3BF-7B64-2CE5-FF05910E5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2B7B45-A961-BCAD-7D6A-58BCCA9ED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618960-8005-486C-9A75-10CB2AAC16F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4B0541-2541-C3E0-1D0B-9827CED4BB7D}"/>
              </a:ext>
            </a:extLst>
          </p:cNvPr>
          <p:cNvSpPr txBox="1">
            <a:spLocks/>
          </p:cNvSpPr>
          <p:nvPr/>
        </p:nvSpPr>
        <p:spPr>
          <a:xfrm>
            <a:off x="104503" y="132245"/>
            <a:ext cx="6807100" cy="49987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Chapter Wise Plan of the Thesis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1E6F09F-92C6-722F-BBF9-07964228B0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6358641"/>
              </p:ext>
            </p:extLst>
          </p:nvPr>
        </p:nvGraphicFramePr>
        <p:xfrm>
          <a:off x="39269" y="835863"/>
          <a:ext cx="12152731" cy="460040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35025">
                  <a:extLst>
                    <a:ext uri="{9D8B030D-6E8A-4147-A177-3AD203B41FA5}">
                      <a16:colId xmlns:a16="http://schemas.microsoft.com/office/drawing/2014/main" val="1112402956"/>
                    </a:ext>
                  </a:extLst>
                </a:gridCol>
                <a:gridCol w="10317706">
                  <a:extLst>
                    <a:ext uri="{9D8B030D-6E8A-4147-A177-3AD203B41FA5}">
                      <a16:colId xmlns:a16="http://schemas.microsoft.com/office/drawing/2014/main" val="3199844010"/>
                    </a:ext>
                  </a:extLst>
                </a:gridCol>
              </a:tblGrid>
              <a:tr h="920081">
                <a:tc>
                  <a:txBody>
                    <a:bodyPr/>
                    <a:lstStyle/>
                    <a:p>
                      <a:r>
                        <a:rPr lang="en-GB" dirty="0"/>
                        <a:t>Chapter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Background/ Introduction of Project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8426712"/>
                  </a:ext>
                </a:extLst>
              </a:tr>
              <a:tr h="920081">
                <a:tc>
                  <a:txBody>
                    <a:bodyPr/>
                    <a:lstStyle/>
                    <a:p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Chapter 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Comparison with Similar Products/Projects/Services in the Market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7201872"/>
                  </a:ext>
                </a:extLst>
              </a:tr>
              <a:tr h="920081">
                <a:tc>
                  <a:txBody>
                    <a:bodyPr/>
                    <a:lstStyle/>
                    <a:p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Chapter 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Problem Statement, Problem Solutions &amp; Proposed Methodology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7551058"/>
                  </a:ext>
                </a:extLst>
              </a:tr>
              <a:tr h="920081">
                <a:tc>
                  <a:txBody>
                    <a:bodyPr/>
                    <a:lstStyle/>
                    <a:p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Chapter 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Working Chapter Title based on the project/Research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204514"/>
                  </a:ext>
                </a:extLst>
              </a:tr>
              <a:tr h="920081">
                <a:tc>
                  <a:txBody>
                    <a:bodyPr/>
                    <a:lstStyle/>
                    <a:p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Chapter 5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Conclusion &amp; Future Scope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14264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18958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2EE482-555C-8581-888D-4CB0564C8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B3E93F-9643-7DB4-65DD-294A957C8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618960-8005-486C-9A75-10CB2AAC16F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37B259-B2A1-C449-2D92-AFE1F66734B9}"/>
              </a:ext>
            </a:extLst>
          </p:cNvPr>
          <p:cNvSpPr txBox="1">
            <a:spLocks/>
          </p:cNvSpPr>
          <p:nvPr/>
        </p:nvSpPr>
        <p:spPr>
          <a:xfrm>
            <a:off x="104503" y="132245"/>
            <a:ext cx="6807100" cy="49987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Rounded MT Bold" panose="020F0704030504030204" pitchFamily="34" charset="0"/>
                <a:ea typeface="+mj-ea"/>
                <a:cs typeface="Times New Roman" panose="02020603050405020304" pitchFamily="18" charset="0"/>
              </a:rPr>
              <a:t>Chapter-1: Background/ Introduction of </a:t>
            </a:r>
            <a:r>
              <a:rPr lang="en-US" sz="2000" b="1" dirty="0">
                <a:solidFill>
                  <a:prstClr val="white"/>
                </a:solidFill>
                <a:latin typeface="Arial Rounded MT Bold" panose="020F0704030504030204" pitchFamily="34" charset="0"/>
                <a:cs typeface="Times New Roman" panose="02020603050405020304" pitchFamily="18" charset="0"/>
              </a:rPr>
              <a:t>Project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Rounded MT Bold" panose="020F0704030504030204" pitchFamily="34" charset="0"/>
                <a:ea typeface="+mj-ea"/>
                <a:cs typeface="Times New Roman" panose="02020603050405020304" pitchFamily="18" charset="0"/>
              </a:rPr>
              <a:t> </a:t>
            </a:r>
            <a:endParaRPr kumimoji="0" lang="en-IN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Rounded MT Bold" panose="020F0704030504030204" pitchFamily="34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DF5815-B45E-063E-9BDC-4FCDC0EC0D58}"/>
              </a:ext>
            </a:extLst>
          </p:cNvPr>
          <p:cNvSpPr txBox="1"/>
          <p:nvPr/>
        </p:nvSpPr>
        <p:spPr>
          <a:xfrm>
            <a:off x="169314" y="901934"/>
            <a:ext cx="1182509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Explains the broader field or area in which your </a:t>
            </a:r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0"/>
              </a:rPr>
              <a:t>project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 is situated.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Helps the reader understand why the topic is important.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Applications to be focus for thesis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2429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650817-99DD-65B6-9708-053BFE405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47E591-AC6B-9532-BDCE-D16E6381B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618960-8005-486C-9A75-10CB2AAC16F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EF5E941-2C5C-17F6-B7F0-673B5800F0CF}"/>
              </a:ext>
            </a:extLst>
          </p:cNvPr>
          <p:cNvSpPr txBox="1">
            <a:spLocks/>
          </p:cNvSpPr>
          <p:nvPr/>
        </p:nvSpPr>
        <p:spPr>
          <a:xfrm>
            <a:off x="384854" y="370785"/>
            <a:ext cx="7499946" cy="49987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Rounded MT Bold" panose="020F0704030504030204" pitchFamily="34" charset="0"/>
                <a:ea typeface="+mj-ea"/>
                <a:cs typeface="Times New Roman" panose="02020603050405020304" pitchFamily="18" charset="0"/>
              </a:rPr>
              <a:t>Chapter-2: Comparison with Similar Products/Projects/Services in the Market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90A5136-DAEC-DC95-7A97-EDA67967EA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9279252"/>
              </p:ext>
            </p:extLst>
          </p:nvPr>
        </p:nvGraphicFramePr>
        <p:xfrm>
          <a:off x="291548" y="1729409"/>
          <a:ext cx="11847444" cy="4992067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961587">
                  <a:extLst>
                    <a:ext uri="{9D8B030D-6E8A-4147-A177-3AD203B41FA5}">
                      <a16:colId xmlns:a16="http://schemas.microsoft.com/office/drawing/2014/main" val="1166323747"/>
                    </a:ext>
                  </a:extLst>
                </a:gridCol>
                <a:gridCol w="5453711">
                  <a:extLst>
                    <a:ext uri="{9D8B030D-6E8A-4147-A177-3AD203B41FA5}">
                      <a16:colId xmlns:a16="http://schemas.microsoft.com/office/drawing/2014/main" val="4003511806"/>
                    </a:ext>
                  </a:extLst>
                </a:gridCol>
                <a:gridCol w="1432146">
                  <a:extLst>
                    <a:ext uri="{9D8B030D-6E8A-4147-A177-3AD203B41FA5}">
                      <a16:colId xmlns:a16="http://schemas.microsoft.com/office/drawing/2014/main" val="386303472"/>
                    </a:ext>
                  </a:extLst>
                </a:gridCol>
              </a:tblGrid>
              <a:tr h="762358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 dirty="0">
                          <a:solidFill>
                            <a:srgbClr val="C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Products/Projects/Services</a:t>
                      </a:r>
                    </a:p>
                  </a:txBody>
                  <a:tcPr marL="3776" marR="3776" marT="3776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b="1" u="none" strike="noStrike" dirty="0">
                          <a:solidFill>
                            <a:srgbClr val="C00000"/>
                          </a:solidFill>
                          <a:effectLst/>
                        </a:rPr>
                        <a:t>Key Features</a:t>
                      </a:r>
                      <a:endParaRPr lang="en-IN" sz="2800" b="1" i="0" u="none" strike="noStrike" dirty="0">
                        <a:solidFill>
                          <a:srgbClr val="C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776" marR="3776" marT="377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1" u="none" strike="noStrike" dirty="0">
                          <a:solidFill>
                            <a:srgbClr val="C00000"/>
                          </a:solidFill>
                          <a:effectLst/>
                        </a:rPr>
                        <a:t>Ref #</a:t>
                      </a:r>
                      <a:endParaRPr lang="en-IN" sz="2800" b="1" u="none" strike="noStrike" dirty="0">
                        <a:solidFill>
                          <a:srgbClr val="C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776" marR="3776" marT="3776" marB="0" anchor="ctr"/>
                </a:tc>
                <a:extLst>
                  <a:ext uri="{0D108BD9-81ED-4DB2-BD59-A6C34878D82A}">
                    <a16:rowId xmlns:a16="http://schemas.microsoft.com/office/drawing/2014/main" val="2227048834"/>
                  </a:ext>
                </a:extLst>
              </a:tr>
              <a:tr h="876546">
                <a:tc>
                  <a:txBody>
                    <a:bodyPr/>
                    <a:lstStyle/>
                    <a:p>
                      <a:pPr algn="l" fontAlgn="ctr"/>
                      <a:endParaRPr lang="en-US" sz="1800" b="0" i="0" u="none" strike="noStrike" dirty="0"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776" marR="3776" marT="3776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800" b="0" i="0" u="none" strike="noStrike" dirty="0"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776" marR="3776" marT="3776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IN" sz="1800" b="1" i="0" u="none" strike="noStrike" dirty="0"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776" marR="3776" marT="3776" marB="0" anchor="ctr"/>
                </a:tc>
                <a:extLst>
                  <a:ext uri="{0D108BD9-81ED-4DB2-BD59-A6C34878D82A}">
                    <a16:rowId xmlns:a16="http://schemas.microsoft.com/office/drawing/2014/main" val="1446847401"/>
                  </a:ext>
                </a:extLst>
              </a:tr>
              <a:tr h="825539">
                <a:tc>
                  <a:txBody>
                    <a:bodyPr/>
                    <a:lstStyle/>
                    <a:p>
                      <a:pPr algn="l" fontAlgn="ctr"/>
                      <a:endParaRPr lang="en-IN" sz="1800" b="0" i="0" u="none" strike="noStrike" dirty="0"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776" marR="3776" marT="3776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800" b="0" i="0" u="none" strike="noStrike" dirty="0"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776" marR="3776" marT="3776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IN" sz="1800" b="1" i="0" u="none" strike="noStrike" dirty="0"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776" marR="3776" marT="3776" marB="0" anchor="ctr"/>
                </a:tc>
                <a:extLst>
                  <a:ext uri="{0D108BD9-81ED-4DB2-BD59-A6C34878D82A}">
                    <a16:rowId xmlns:a16="http://schemas.microsoft.com/office/drawing/2014/main" val="2455637976"/>
                  </a:ext>
                </a:extLst>
              </a:tr>
              <a:tr h="825539">
                <a:tc>
                  <a:txBody>
                    <a:bodyPr/>
                    <a:lstStyle/>
                    <a:p>
                      <a:pPr algn="l" fontAlgn="ctr"/>
                      <a:endParaRPr lang="en-IN" sz="1800" b="0" i="0" u="none" strike="noStrike" dirty="0"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776" marR="3776" marT="3776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800" b="0" i="0" u="none" strike="noStrike" dirty="0"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776" marR="3776" marT="3776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IN" sz="1800" b="1" i="0" u="none" strike="noStrike" dirty="0"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776" marR="3776" marT="3776" marB="0" anchor="ctr"/>
                </a:tc>
                <a:extLst>
                  <a:ext uri="{0D108BD9-81ED-4DB2-BD59-A6C34878D82A}">
                    <a16:rowId xmlns:a16="http://schemas.microsoft.com/office/drawing/2014/main" val="2489683364"/>
                  </a:ext>
                </a:extLst>
              </a:tr>
              <a:tr h="876546">
                <a:tc>
                  <a:txBody>
                    <a:bodyPr/>
                    <a:lstStyle/>
                    <a:p>
                      <a:pPr algn="l" fontAlgn="ctr"/>
                      <a:endParaRPr lang="en-IN" sz="1800" b="0" i="0" u="none" strike="noStrike" dirty="0"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776" marR="3776" marT="3776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800" b="0" i="0" u="none" strike="noStrike" dirty="0"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776" marR="3776" marT="3776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IN" sz="1800" b="1" i="0" u="none" strike="noStrike" dirty="0"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776" marR="3776" marT="3776" marB="0" anchor="ctr"/>
                </a:tc>
                <a:extLst>
                  <a:ext uri="{0D108BD9-81ED-4DB2-BD59-A6C34878D82A}">
                    <a16:rowId xmlns:a16="http://schemas.microsoft.com/office/drawing/2014/main" val="3782778342"/>
                  </a:ext>
                </a:extLst>
              </a:tr>
              <a:tr h="825539">
                <a:tc>
                  <a:txBody>
                    <a:bodyPr/>
                    <a:lstStyle/>
                    <a:p>
                      <a:pPr algn="l" fontAlgn="ctr"/>
                      <a:endParaRPr lang="en-US" sz="1800" b="0" i="0" u="none" strike="noStrike" dirty="0"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776" marR="3776" marT="3776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800" b="0" i="0" u="none" strike="noStrike" dirty="0"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776" marR="3776" marT="3776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IN" sz="1800" b="1" i="0" u="none" strike="noStrike" dirty="0"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776" marR="3776" marT="3776" marB="0" anchor="ctr"/>
                </a:tc>
                <a:extLst>
                  <a:ext uri="{0D108BD9-81ED-4DB2-BD59-A6C34878D82A}">
                    <a16:rowId xmlns:a16="http://schemas.microsoft.com/office/drawing/2014/main" val="268395747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C15B2F4-2419-6000-68F8-06E5023CA9BA}"/>
              </a:ext>
            </a:extLst>
          </p:cNvPr>
          <p:cNvSpPr txBox="1"/>
          <p:nvPr/>
        </p:nvSpPr>
        <p:spPr>
          <a:xfrm>
            <a:off x="0" y="930704"/>
            <a:ext cx="120329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Note: Reference can be publications or Website Links</a:t>
            </a:r>
          </a:p>
        </p:txBody>
      </p:sp>
    </p:spTree>
    <p:extLst>
      <p:ext uri="{BB962C8B-B14F-4D97-AF65-F5344CB8AC3E}">
        <p14:creationId xmlns:p14="http://schemas.microsoft.com/office/powerpoint/2010/main" val="2670668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CC24E8-65AF-6B3B-C17F-469CCC39F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9D2235-B77F-CE38-918E-1275F6A58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618960-8005-486C-9A75-10CB2AAC16F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1CCB12-BF62-29ED-A87F-8BD80696BC0E}"/>
              </a:ext>
            </a:extLst>
          </p:cNvPr>
          <p:cNvSpPr txBox="1"/>
          <p:nvPr/>
        </p:nvSpPr>
        <p:spPr>
          <a:xfrm>
            <a:off x="227218" y="185203"/>
            <a:ext cx="73179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dirty="0">
                <a:solidFill>
                  <a:prstClr val="white"/>
                </a:solidFill>
                <a:latin typeface="Arial Rounded MT Bold" panose="020F0704030504030204" pitchFamily="34" charset="0"/>
                <a:ea typeface="Tahoma" pitchFamily="34" charset="0"/>
                <a:cs typeface="Tahoma" pitchFamily="34" charset="0"/>
              </a:rPr>
              <a:t>Chapter-3: Problem Statement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Rounded MT Bold" panose="020F0704030504030204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45AD1D-97A1-18D7-575F-83EC4009BA2F}"/>
              </a:ext>
            </a:extLst>
          </p:cNvPr>
          <p:cNvSpPr txBox="1"/>
          <p:nvPr/>
        </p:nvSpPr>
        <p:spPr>
          <a:xfrm>
            <a:off x="169314" y="901934"/>
            <a:ext cx="11825092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IN" dirty="0">
                <a:solidFill>
                  <a:srgbClr val="C00000"/>
                </a:solidFill>
                <a:latin typeface="Arial Rounded MT Bold" panose="020F0704030504030204" pitchFamily="34" charset="0"/>
              </a:rPr>
              <a:t>Discuss the problem statement identified through Literature Survey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63058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609A57-5DBA-7326-3FCA-9EE8A3C26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525D07-F700-4A92-DA45-84F3D3192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618960-8005-486C-9A75-10CB2AAC16F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7BC13F-7A3E-A677-AEB8-D26A5415B15F}"/>
              </a:ext>
            </a:extLst>
          </p:cNvPr>
          <p:cNvSpPr txBox="1"/>
          <p:nvPr/>
        </p:nvSpPr>
        <p:spPr>
          <a:xfrm>
            <a:off x="227217" y="185203"/>
            <a:ext cx="771313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prstClr val="white"/>
                </a:solidFill>
                <a:latin typeface="Arial Rounded MT Bold" panose="020F0704030504030204" pitchFamily="34" charset="0"/>
                <a:ea typeface="Tahoma" pitchFamily="34" charset="0"/>
                <a:cs typeface="Tahoma" pitchFamily="34" charset="0"/>
              </a:rPr>
              <a:t>Chapter-3: Problem Solutions &amp; Proposed Methodology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Rounded MT Bold" panose="020F0704030504030204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F31ABF-2A58-4CFD-3094-0A1A20E366C3}"/>
              </a:ext>
            </a:extLst>
          </p:cNvPr>
          <p:cNvSpPr txBox="1"/>
          <p:nvPr/>
        </p:nvSpPr>
        <p:spPr>
          <a:xfrm>
            <a:off x="169314" y="901934"/>
            <a:ext cx="11825092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IN" dirty="0">
                <a:solidFill>
                  <a:srgbClr val="C00000"/>
                </a:solidFill>
                <a:latin typeface="Arial Rounded MT Bold" panose="020F0704030504030204" pitchFamily="34" charset="0"/>
              </a:rPr>
              <a:t>Discuss the various solutions and proposed methodology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682309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CC24E8-65AF-6B3B-C17F-469CCC39F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9D2235-B77F-CE38-918E-1275F6A58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618960-8005-486C-9A75-10CB2AAC16F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26AF6A-48CB-BE31-A0D5-9EDE8F2095A6}"/>
              </a:ext>
            </a:extLst>
          </p:cNvPr>
          <p:cNvSpPr txBox="1"/>
          <p:nvPr/>
        </p:nvSpPr>
        <p:spPr>
          <a:xfrm>
            <a:off x="191925" y="1004910"/>
            <a:ext cx="77131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IN" sz="2400" b="1" dirty="0">
                <a:solidFill>
                  <a:prstClr val="black"/>
                </a:solidFill>
                <a:latin typeface="Arial Rounded MT Bold" panose="020F0704030504030204" pitchFamily="34" charset="0"/>
                <a:cs typeface="Times New Roman" panose="02020603050405020304" pitchFamily="18" charset="0"/>
              </a:rPr>
              <a:t>Key project works carried out during Internship </a:t>
            </a:r>
            <a:endParaRPr lang="en-US" sz="2400" dirty="0">
              <a:solidFill>
                <a:prstClr val="black"/>
              </a:solidFill>
              <a:latin typeface="Arial Rounded MT Bold" panose="020F07040305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30217" y="1466575"/>
            <a:ext cx="1174015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IN" sz="1600" b="1" dirty="0">
                <a:solidFill>
                  <a:srgbClr val="C00000"/>
                </a:solidFill>
                <a:latin typeface="Arial Rounded MT Bold" panose="020F0704030504030204" pitchFamily="34" charset="0"/>
                <a:cs typeface="Times New Roman" panose="02020603050405020304" pitchFamily="18" charset="0"/>
              </a:rPr>
              <a:t>Project done (flow chart of project or calculation Schematic diagram/Algorithm/Method etc </a:t>
            </a:r>
          </a:p>
          <a:p>
            <a:pPr lvl="0">
              <a:defRPr/>
            </a:pPr>
            <a:r>
              <a:rPr lang="en-IN" sz="1600" b="1" dirty="0">
                <a:solidFill>
                  <a:srgbClr val="C00000"/>
                </a:solidFill>
                <a:latin typeface="Arial Rounded MT Bold" panose="020F0704030504030204" pitchFamily="34" charset="0"/>
                <a:cs typeface="Times New Roman" panose="02020603050405020304" pitchFamily="18" charset="0"/>
              </a:rPr>
              <a:t>Use As many slides as required </a:t>
            </a:r>
            <a:endParaRPr lang="en-US" sz="1600" dirty="0">
              <a:solidFill>
                <a:srgbClr val="C00000"/>
              </a:solidFill>
              <a:latin typeface="Arial Rounded MT Bold" panose="020F07040305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B81A36-47C6-AF43-9F9A-1D7B45849440}"/>
              </a:ext>
            </a:extLst>
          </p:cNvPr>
          <p:cNvSpPr txBox="1"/>
          <p:nvPr/>
        </p:nvSpPr>
        <p:spPr>
          <a:xfrm>
            <a:off x="227217" y="185203"/>
            <a:ext cx="77131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Rounded MT Bold" panose="020F0704030504030204" pitchFamily="34" charset="0"/>
                <a:ea typeface="Tahoma" pitchFamily="34" charset="0"/>
                <a:cs typeface="Tahoma" pitchFamily="34" charset="0"/>
              </a:rPr>
              <a:t>Chapter-4: Title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Rounded MT Bold" panose="020F0704030504030204" pitchFamily="34" charset="0"/>
              <a:ea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58863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155580-A0B8-0236-9EDE-FA1DF60D1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54F544-188D-64B1-9556-4459E2405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618960-8005-486C-9A75-10CB2AAC16F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4912B4-77CE-C018-5435-FD262D4AA42B}"/>
              </a:ext>
            </a:extLst>
          </p:cNvPr>
          <p:cNvSpPr txBox="1"/>
          <p:nvPr/>
        </p:nvSpPr>
        <p:spPr>
          <a:xfrm>
            <a:off x="227217" y="185203"/>
            <a:ext cx="77131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b="1" dirty="0">
                <a:solidFill>
                  <a:prstClr val="white"/>
                </a:solidFill>
                <a:latin typeface="Arial Rounded MT Bold" panose="020F0704030504030204" pitchFamily="34" charset="0"/>
                <a:ea typeface="Tahoma" pitchFamily="34" charset="0"/>
                <a:cs typeface="Tahoma" pitchFamily="34" charset="0"/>
              </a:rPr>
              <a:t>Chapter-5: Conclusion &amp; Future Scope</a:t>
            </a:r>
            <a:endParaRPr lang="en-US" sz="2400" dirty="0">
              <a:solidFill>
                <a:prstClr val="white"/>
              </a:solidFill>
              <a:latin typeface="Arial Rounded MT Bold" panose="020F0704030504030204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DCB11CE-BC16-25BF-4D63-783B858F04AF}"/>
              </a:ext>
            </a:extLst>
          </p:cNvPr>
          <p:cNvSpPr/>
          <p:nvPr/>
        </p:nvSpPr>
        <p:spPr>
          <a:xfrm>
            <a:off x="130217" y="896775"/>
            <a:ext cx="1174015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IN" sz="1600" b="1" dirty="0">
                <a:solidFill>
                  <a:srgbClr val="C00000"/>
                </a:solidFill>
                <a:latin typeface="Arial Rounded MT Bold" panose="020F0704030504030204" pitchFamily="34" charset="0"/>
                <a:cs typeface="Times New Roman" panose="02020603050405020304" pitchFamily="18" charset="0"/>
              </a:rPr>
              <a:t>Performance comparison with existing works &amp; Future directions for further improvement</a:t>
            </a:r>
            <a:endParaRPr lang="en-US" sz="1600" dirty="0">
              <a:solidFill>
                <a:srgbClr val="7030A0"/>
              </a:solidFill>
              <a:latin typeface="Arial Rounded MT Bold" panose="020F07040305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1909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2A15DC-7107-33D2-250D-48979CD98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8E5DA9-6816-02E8-3B09-391D75172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618960-8005-486C-9A75-10CB2AAC16F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1D15B6-490D-51A1-F356-1FDF0DE5F08D}"/>
              </a:ext>
            </a:extLst>
          </p:cNvPr>
          <p:cNvSpPr txBox="1"/>
          <p:nvPr/>
        </p:nvSpPr>
        <p:spPr>
          <a:xfrm>
            <a:off x="126226" y="785594"/>
            <a:ext cx="11350157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Minimum 80% references should be SCI/SSCI/AHCI Q1 (Not ESCI). Mention Quartile with every paper as per latest JCR List shared by Dean Research, SRU. (At least </a:t>
            </a:r>
            <a:r>
              <a:rPr lang="en-GB" sz="1600" dirty="0">
                <a:solidFill>
                  <a:srgbClr val="C00000"/>
                </a:solidFill>
                <a:latin typeface="Arial Rounded MT Bold" panose="020F0704030504030204" pitchFamily="34" charset="0"/>
              </a:rPr>
              <a:t>20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 Papers in Reference List).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Times New Roman" panose="02020603050405020304" pitchFamily="18" charset="0"/>
              </a:rPr>
              <a:t>Follow the following style 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AutoNum type="arabicPeriod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Ghosh,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A.,Yadav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S.N.S.,Tsai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, M.-H., Dubey, A., Lin, C.-T.,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Gwo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, S., Yen, T.-J. (2024): Superior visible photoelectric response with Au/Cu</a:t>
            </a:r>
            <a:r>
              <a:rPr kumimoji="0" lang="en-US" sz="16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2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NiSnS</a:t>
            </a:r>
            <a:r>
              <a:rPr kumimoji="0" lang="en-US" sz="16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4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 core-shell nanocrystal, ACS Applied Materials &amp; Interfaces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(SCI Q1)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, 16, 12033-12041.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AutoNum type="arabicPeriod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AutoNum type="arabicPeriod"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Ghosh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, D.,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Ghosh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, A., Ali, M. Y., Bhattacharyya, S. (2018): Photoactive core-shell nanorods as bifunctional electrodes for boosting the performance of quantum dot sensitized solar cells and photoelectrochemical cells, Chemistry of Materials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(SCI Q1)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, 30, 6071-6081.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75041" y="139627"/>
            <a:ext cx="217546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References</a:t>
            </a:r>
            <a:endParaRPr kumimoji="0" lang="en-IN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96250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AA1BAF-6D6B-79A1-65B6-E37E8B965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515755-082B-905C-7300-050A4C372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618960-8005-486C-9A75-10CB2AAC16F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A899DB-0C50-6E06-DD36-ADF8FF91367C}"/>
              </a:ext>
            </a:extLst>
          </p:cNvPr>
          <p:cNvSpPr txBox="1"/>
          <p:nvPr/>
        </p:nvSpPr>
        <p:spPr>
          <a:xfrm>
            <a:off x="126226" y="785594"/>
            <a:ext cx="1135015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AutoNum type="arabicPeriod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6117780-64C0-741D-FB2D-59361B941ACD}"/>
              </a:ext>
            </a:extLst>
          </p:cNvPr>
          <p:cNvSpPr/>
          <p:nvPr/>
        </p:nvSpPr>
        <p:spPr>
          <a:xfrm>
            <a:off x="375041" y="139627"/>
            <a:ext cx="217546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References</a:t>
            </a:r>
            <a:endParaRPr kumimoji="0" lang="en-IN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65817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F7FCDC-CCF5-E401-0B16-ACA5D79E5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65E6C-4AB0-1CD8-583A-61DFF7932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618960-8005-486C-9A75-10CB2AAC16F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17622E-E36F-7C00-C543-12FFAC27B9C9}"/>
              </a:ext>
            </a:extLst>
          </p:cNvPr>
          <p:cNvSpPr txBox="1"/>
          <p:nvPr/>
        </p:nvSpPr>
        <p:spPr>
          <a:xfrm>
            <a:off x="126226" y="785594"/>
            <a:ext cx="1135015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AutoNum type="arabicPeriod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3E178F1-0E21-9097-368F-A2CD3599400F}"/>
              </a:ext>
            </a:extLst>
          </p:cNvPr>
          <p:cNvSpPr/>
          <p:nvPr/>
        </p:nvSpPr>
        <p:spPr>
          <a:xfrm>
            <a:off x="375041" y="139627"/>
            <a:ext cx="217546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References</a:t>
            </a:r>
            <a:endParaRPr kumimoji="0" lang="en-IN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69925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6A1CBB-4C26-833D-9A7B-E6F4B4B85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45CCA5-9229-19C1-AEDD-3309EBA5D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618960-8005-486C-9A75-10CB2AAC16F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A3241D-8387-A359-E71C-DFA2652B7B66}"/>
              </a:ext>
            </a:extLst>
          </p:cNvPr>
          <p:cNvSpPr txBox="1"/>
          <p:nvPr/>
        </p:nvSpPr>
        <p:spPr>
          <a:xfrm>
            <a:off x="126226" y="785594"/>
            <a:ext cx="1135015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AutoNum type="arabicPeriod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D894C37-EFBC-2FF3-FF62-7343C264E991}"/>
              </a:ext>
            </a:extLst>
          </p:cNvPr>
          <p:cNvSpPr/>
          <p:nvPr/>
        </p:nvSpPr>
        <p:spPr>
          <a:xfrm>
            <a:off x="375041" y="139627"/>
            <a:ext cx="217546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References</a:t>
            </a:r>
            <a:endParaRPr kumimoji="0" lang="en-IN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6519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1187ED-45B0-562E-A601-AEC273BA1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546AB0-B4B4-D466-135C-F491CFCE1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618960-8005-486C-9A75-10CB2AAC16F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797B06F-AE4B-E21D-1868-A19CC6EE9C82}"/>
              </a:ext>
            </a:extLst>
          </p:cNvPr>
          <p:cNvSpPr txBox="1">
            <a:spLocks/>
          </p:cNvSpPr>
          <p:nvPr/>
        </p:nvSpPr>
        <p:spPr>
          <a:xfrm>
            <a:off x="185530" y="2998500"/>
            <a:ext cx="11416748" cy="190842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2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 Rounded MT Bold" panose="020F0704030504030204" pitchFamily="34" charset="0"/>
                <a:ea typeface="+mj-ea"/>
                <a:cs typeface="+mj-cs"/>
              </a:rPr>
              <a:t>THANK YOU. </a:t>
            </a:r>
          </a:p>
          <a:p>
            <a:pPr marL="0" marR="0" lvl="0" indent="0" algn="ctr" defTabSz="914400" rtl="0" eaLnBrk="1" fontAlgn="auto" latinLnBrk="0" hangingPunct="1">
              <a:lnSpc>
                <a:spcPct val="2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 Rounded MT Bold" panose="020F0704030504030204" pitchFamily="34" charset="0"/>
                <a:ea typeface="+mj-ea"/>
                <a:cs typeface="+mj-cs"/>
              </a:rPr>
              <a:t>Panel Members are requested to ask questions. I understand that this interaction may be recorded for the quality purpose.</a:t>
            </a:r>
            <a:endParaRPr kumimoji="0" lang="en-IN" sz="28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4634393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548</TotalTime>
  <Words>545</Words>
  <Application>Microsoft Office PowerPoint</Application>
  <PresentationFormat>Widescreen</PresentationFormat>
  <Paragraphs>172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Arial Rounded MT Bold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Dr. Ajayan</cp:lastModifiedBy>
  <cp:revision>64</cp:revision>
  <dcterms:created xsi:type="dcterms:W3CDTF">2025-03-18T10:58:32Z</dcterms:created>
  <dcterms:modified xsi:type="dcterms:W3CDTF">2025-11-27T06:53:56Z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A7CC2B040E1242BCA8ECC8C411552075_11</vt:lpwstr>
  </property>
  <property fmtid="{D5CDD505-2E9C-101B-9397-08002B2CF9AE}" pid="3" name="KSOProductBuildVer">
    <vt:lpwstr>1033-12.2.0.20326</vt:lpwstr>
  </property>
</Properties>
</file>